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hgAci12QqkChh0b5n8+ws929Qu/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Carolina Rios-Trujillo"/>
  <p:cmAuthor clrIdx="1" id="1" initials="" lastIdx="2" name="Christian Breto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13T04:07:46.042">
    <p:pos x="316" y="1831"/>
    <p:text>idk if this is true lol, pls check</p:text>
    <p:extLst>
      <p:ext uri="{C676402C-5697-4E1C-873F-D02D1690AC5C}">
        <p15:threadingInfo timeZoneBias="0"/>
      </p:ext>
      <p:ext uri="http://customooxmlschemas.google.com/">
        <go:slidesCustomData xmlns:go="http://customooxmlschemas.google.com/" commentPostId="AAAB1tZBstg"/>
      </p:ext>
    </p:extLst>
  </p:cm>
  <p:cm authorId="1" idx="1" dt="2026-03-13T04:07:46.042">
    <p:pos x="316" y="1831"/>
    <p:text>This might help with that claim: https://plc.pearson.com/en-GB/news-and-insights/news/new-data-shows-ai-study-tools-turn-passive-reading-active-learning-college</p:text>
    <p:extLst>
      <p:ext uri="{C676402C-5697-4E1C-873F-D02D1690AC5C}">
        <p15:threadingInfo timeZoneBias="0">
          <p15:parentCm authorId="0" idx="1"/>
        </p15:threadingInfo>
      </p:ext>
      <p:ext uri="http://customooxmlschemas.google.com/">
        <go:slidesCustomData xmlns:go="http://customooxmlschemas.google.com/" commentPostId="AAAB1thfo3c"/>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3-13T19:44:22.710">
    <p:pos x="6000" y="0"/>
    <p:text>This is the second pipeline option</p:text>
    <p:extLst>
      <p:ext uri="{C676402C-5697-4E1C-873F-D02D1690AC5C}">
        <p15:threadingInfo timeZoneBias="0"/>
      </p:ext>
      <p:ext uri="http://customooxmlschemas.google.com/">
        <go:slidesCustomData xmlns:go="http://customooxmlschemas.google.com/" commentPostId="AAAB1sKB0Cc"/>
      </p:ext>
    </p:extLst>
  </p:cm>
  <p:cm authorId="1" idx="2" dt="2026-03-13T04:03:20.437">
    <p:pos x="6000" y="0"/>
    <p:text>I don't understand how this one is different from the previous one. Are we not missing a step where we embed our query? Maybe we can do without this slide. If we do it sequentially and embed every document every time there's a new query this would be very expensive and slow.</p:text>
    <p:extLst>
      <p:ext uri="{C676402C-5697-4E1C-873F-D02D1690AC5C}">
        <p15:threadingInfo timeZoneBias="0">
          <p15:parentCm authorId="0" idx="2"/>
        </p15:threadingInfo>
      </p:ext>
      <p:ext uri="http://customooxmlschemas.google.com/">
        <go:slidesCustomData xmlns:go="http://customooxmlschemas.google.com/" commentPostId="AAAB1thfo3Y"/>
      </p:ext>
    </p:extLst>
  </p:cm>
  <p:cm authorId="0" idx="3" dt="2026-03-13T19:44:22.710">
    <p:pos x="6000" y="0"/>
    <p:text>Not meant to cause misunderstanding of sequential running, this is just an idea of how to visually show the model pipeline. Feel absolutely free to change it though if this doesn't work!</p:text>
    <p:extLst>
      <p:ext uri="{C676402C-5697-4E1C-873F-D02D1690AC5C}">
        <p15:threadingInfo timeZoneBias="0">
          <p15:parentCm authorId="0" idx="2"/>
        </p15:threadingInfo>
      </p:ext>
      <p:ext uri="http://customooxmlschemas.google.com/">
        <go:slidesCustomData xmlns:go="http://customooxmlschemas.google.com/" commentPostId="AAAB1x7htm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fa2e4f4a0_0_6:notes"/>
          <p:cNvSpPr/>
          <p:nvPr>
            <p:ph idx="2" type="sldImg"/>
          </p:nvPr>
        </p:nvSpPr>
        <p:spPr>
          <a:xfrm>
            <a:off x="514350" y="857250"/>
            <a:ext cx="4114800" cy="2314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cfa2e4f4a0_0_6:notes"/>
          <p:cNvSpPr txBox="1"/>
          <p:nvPr>
            <p:ph idx="1" type="body"/>
          </p:nvPr>
        </p:nvSpPr>
        <p:spPr>
          <a:xfrm>
            <a:off x="514350" y="3300413"/>
            <a:ext cx="4114800" cy="27006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None/>
            </a:pPr>
            <a:r>
              <a:t/>
            </a:r>
            <a:endParaRPr/>
          </a:p>
        </p:txBody>
      </p:sp>
      <p:sp>
        <p:nvSpPr>
          <p:cNvPr id="69" name="Google Shape;69;g3cfa2e4f4a0_0_6:notes"/>
          <p:cNvSpPr txBox="1"/>
          <p:nvPr>
            <p:ph idx="12" type="sldNum"/>
          </p:nvPr>
        </p:nvSpPr>
        <p:spPr>
          <a:xfrm>
            <a:off x="2913460" y="6513910"/>
            <a:ext cx="2229000" cy="3441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c5b8531bf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g3c5b8531bf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c5b8531bf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rag-test-generator.onrender.com/"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1"/>
          <p:cNvSpPr/>
          <p:nvPr/>
        </p:nvSpPr>
        <p:spPr>
          <a:xfrm>
            <a:off x="0" y="0"/>
            <a:ext cx="3657600" cy="514350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31520" y="3474720"/>
            <a:ext cx="2560320" cy="2560320"/>
          </a:xfrm>
          <a:prstGeom prst="ellipse">
            <a:avLst/>
          </a:prstGeom>
          <a:solidFill>
            <a:srgbClr val="0A2A35"/>
          </a:solidFill>
          <a:ln cap="flat" cmpd="sng" w="12700">
            <a:solidFill>
              <a:srgbClr val="0A2A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2194560" y="-548640"/>
            <a:ext cx="1828800" cy="1828800"/>
          </a:xfrm>
          <a:prstGeom prst="ellipse">
            <a:avLst/>
          </a:prstGeom>
          <a:solidFill>
            <a:srgbClr val="0D7A8C">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57200" y="1463040"/>
            <a:ext cx="164592" cy="164592"/>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22960" y="1463040"/>
            <a:ext cx="109728" cy="109728"/>
          </a:xfrm>
          <a:prstGeom prst="ellipse">
            <a:avLst/>
          </a:prstGeom>
          <a:solidFill>
            <a:srgbClr val="10B98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1097280" y="1463040"/>
            <a:ext cx="73152" cy="73152"/>
          </a:xfrm>
          <a:prstGeom prst="ellipse">
            <a:avLst/>
          </a:prstGeom>
          <a:solidFill>
            <a:srgbClr val="10B981">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320050" y="411475"/>
            <a:ext cx="32109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7200"/>
              <a:buFont typeface="Trebuchet MS"/>
              <a:buNone/>
            </a:pPr>
            <a:r>
              <a:rPr b="1" lang="en-US" sz="3000">
                <a:solidFill>
                  <a:srgbClr val="10B981"/>
                </a:solidFill>
                <a:latin typeface="Trebuchet MS"/>
                <a:ea typeface="Trebuchet MS"/>
                <a:cs typeface="Trebuchet MS"/>
                <a:sym typeface="Trebuchet MS"/>
              </a:rPr>
              <a:t>Don't Hallucinate My Clusters</a:t>
            </a:r>
            <a:endParaRPr b="0" i="0" sz="3000" u="none" cap="none" strike="noStrike">
              <a:solidFill>
                <a:schemeClr val="dk1"/>
              </a:solidFill>
              <a:latin typeface="Calibri"/>
              <a:ea typeface="Calibri"/>
              <a:cs typeface="Calibri"/>
              <a:sym typeface="Calibri"/>
            </a:endParaRPr>
          </a:p>
        </p:txBody>
      </p:sp>
      <p:sp>
        <p:nvSpPr>
          <p:cNvPr id="23" name="Google Shape;23;p1"/>
          <p:cNvSpPr/>
          <p:nvPr/>
        </p:nvSpPr>
        <p:spPr>
          <a:xfrm>
            <a:off x="320040" y="1539240"/>
            <a:ext cx="3017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Trebuchet MS"/>
              <a:buNone/>
            </a:pPr>
            <a:r>
              <a:rPr b="1" lang="en-US" sz="1900">
                <a:solidFill>
                  <a:srgbClr val="FFFFFF"/>
                </a:solidFill>
                <a:latin typeface="Trebuchet MS"/>
                <a:ea typeface="Trebuchet MS"/>
                <a:cs typeface="Trebuchet MS"/>
                <a:sym typeface="Trebuchet MS"/>
              </a:rPr>
              <a:t>RAG Test Maker</a:t>
            </a:r>
            <a:endParaRPr b="0" i="0" sz="1900" u="none" cap="none" strike="noStrike">
              <a:solidFill>
                <a:schemeClr val="dk1"/>
              </a:solidFill>
              <a:latin typeface="Calibri"/>
              <a:ea typeface="Calibri"/>
              <a:cs typeface="Calibri"/>
              <a:sym typeface="Calibri"/>
            </a:endParaRPr>
          </a:p>
        </p:txBody>
      </p:sp>
      <p:sp>
        <p:nvSpPr>
          <p:cNvPr id="24" name="Google Shape;24;p1"/>
          <p:cNvSpPr/>
          <p:nvPr/>
        </p:nvSpPr>
        <p:spPr>
          <a:xfrm>
            <a:off x="320040" y="1844040"/>
            <a:ext cx="3017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2200"/>
              <a:buFont typeface="Trebuchet MS"/>
              <a:buNone/>
            </a:pPr>
            <a:r>
              <a:rPr b="1" i="0" lang="en-US" sz="1900" u="none" cap="none" strike="noStrike">
                <a:solidFill>
                  <a:srgbClr val="AADDDA"/>
                </a:solidFill>
                <a:latin typeface="Trebuchet MS"/>
                <a:ea typeface="Trebuchet MS"/>
                <a:cs typeface="Trebuchet MS"/>
                <a:sym typeface="Trebuchet MS"/>
              </a:rPr>
              <a:t>C</a:t>
            </a:r>
            <a:r>
              <a:rPr b="1" lang="en-US" sz="1900">
                <a:solidFill>
                  <a:srgbClr val="AADDDA"/>
                </a:solidFill>
                <a:latin typeface="Trebuchet MS"/>
                <a:ea typeface="Trebuchet MS"/>
                <a:cs typeface="Trebuchet MS"/>
                <a:sym typeface="Trebuchet MS"/>
              </a:rPr>
              <a:t>hatbot</a:t>
            </a:r>
            <a:endParaRPr b="0" i="0" sz="1900" u="none" cap="none" strike="noStrike">
              <a:solidFill>
                <a:schemeClr val="dk1"/>
              </a:solidFill>
              <a:latin typeface="Calibri"/>
              <a:ea typeface="Calibri"/>
              <a:cs typeface="Calibri"/>
              <a:sym typeface="Calibri"/>
            </a:endParaRPr>
          </a:p>
        </p:txBody>
      </p:sp>
      <p:sp>
        <p:nvSpPr>
          <p:cNvPr id="25" name="Google Shape;25;p1"/>
          <p:cNvSpPr/>
          <p:nvPr/>
        </p:nvSpPr>
        <p:spPr>
          <a:xfrm>
            <a:off x="320040" y="2304288"/>
            <a:ext cx="1645920" cy="3657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320040" y="2423160"/>
            <a:ext cx="301752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1300"/>
              <a:buFont typeface="Calibri"/>
              <a:buNone/>
            </a:pPr>
            <a:r>
              <a:rPr b="0" i="1" lang="en-US" sz="1300" u="none" cap="none" strike="noStrike">
                <a:solidFill>
                  <a:srgbClr val="AADDDA"/>
                </a:solidFill>
                <a:latin typeface="Calibri"/>
                <a:ea typeface="Calibri"/>
                <a:cs typeface="Calibri"/>
                <a:sym typeface="Calibri"/>
              </a:rPr>
              <a:t>Unsupervised Learning</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ADDDA"/>
              </a:buClr>
              <a:buSzPts val="1300"/>
              <a:buFont typeface="Calibri"/>
              <a:buNone/>
            </a:pPr>
            <a:r>
              <a:rPr b="0" i="1" lang="en-US" sz="1300" u="none" cap="none" strike="noStrike">
                <a:solidFill>
                  <a:srgbClr val="AADDDA"/>
                </a:solidFill>
                <a:latin typeface="Calibri"/>
                <a:ea typeface="Calibri"/>
                <a:cs typeface="Calibri"/>
                <a:sym typeface="Calibri"/>
              </a:rPr>
              <a:t>Study Assistant</a:t>
            </a:r>
            <a:endParaRPr b="0" i="0" sz="1300" u="none" cap="none" strike="noStrike">
              <a:solidFill>
                <a:schemeClr val="dk1"/>
              </a:solidFill>
              <a:latin typeface="Calibri"/>
              <a:ea typeface="Calibri"/>
              <a:cs typeface="Calibri"/>
              <a:sym typeface="Calibri"/>
            </a:endParaRPr>
          </a:p>
        </p:txBody>
      </p:sp>
      <p:sp>
        <p:nvSpPr>
          <p:cNvPr id="27" name="Google Shape;27;p1"/>
          <p:cNvSpPr/>
          <p:nvPr/>
        </p:nvSpPr>
        <p:spPr>
          <a:xfrm>
            <a:off x="320040" y="4389120"/>
            <a:ext cx="301752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BBFBB"/>
              </a:buClr>
              <a:buSzPts val="1000"/>
              <a:buFont typeface="Calibri"/>
              <a:buNone/>
            </a:pPr>
            <a:r>
              <a:rPr b="0" i="0" lang="en-US" sz="1000" u="none" cap="none" strike="noStrike">
                <a:solidFill>
                  <a:srgbClr val="7BBFBB"/>
                </a:solidFill>
                <a:latin typeface="Calibri"/>
                <a:ea typeface="Calibri"/>
                <a:cs typeface="Calibri"/>
                <a:sym typeface="Calibri"/>
              </a:rPr>
              <a:t>Christian Breton  ·  Stiles Clements</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7BBFBB"/>
              </a:buClr>
              <a:buSzPts val="1000"/>
              <a:buFont typeface="Calibri"/>
              <a:buNone/>
            </a:pPr>
            <a:r>
              <a:rPr b="0" i="0" lang="en-US" sz="1000" u="none" cap="none" strike="noStrike">
                <a:solidFill>
                  <a:srgbClr val="7BBFBB"/>
                </a:solidFill>
                <a:latin typeface="Calibri"/>
                <a:ea typeface="Calibri"/>
                <a:cs typeface="Calibri"/>
                <a:sym typeface="Calibri"/>
              </a:rPr>
              <a:t>Keerti Rawat  ·  Carolina Rios</a:t>
            </a:r>
            <a:endParaRPr b="0" i="0" sz="1000" u="none" cap="none" strike="noStrike">
              <a:solidFill>
                <a:schemeClr val="dk1"/>
              </a:solidFill>
              <a:latin typeface="Calibri"/>
              <a:ea typeface="Calibri"/>
              <a:cs typeface="Calibri"/>
              <a:sym typeface="Calibri"/>
            </a:endParaRPr>
          </a:p>
        </p:txBody>
      </p:sp>
      <p:sp>
        <p:nvSpPr>
          <p:cNvPr id="28" name="Google Shape;28;p1"/>
          <p:cNvSpPr/>
          <p:nvPr/>
        </p:nvSpPr>
        <p:spPr>
          <a:xfrm>
            <a:off x="4023350" y="1097275"/>
            <a:ext cx="4895700" cy="109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2600"/>
              <a:buFont typeface="Trebuchet MS"/>
              <a:buNone/>
            </a:pPr>
            <a:r>
              <a:rPr b="1" i="0" lang="en-US" sz="2600" u="none" cap="none" strike="noStrike">
                <a:solidFill>
                  <a:srgbClr val="1E3A5F"/>
                </a:solidFill>
                <a:latin typeface="Trebuchet MS"/>
                <a:ea typeface="Trebuchet MS"/>
                <a:cs typeface="Trebuchet MS"/>
                <a:sym typeface="Trebuchet MS"/>
              </a:rPr>
              <a:t>What if your AI study assistant</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A5F"/>
              </a:buClr>
              <a:buSzPts val="2600"/>
              <a:buFont typeface="Trebuchet MS"/>
              <a:buNone/>
            </a:pPr>
            <a:r>
              <a:rPr b="1" i="0" lang="en-US" sz="2600" u="none" cap="none" strike="noStrike">
                <a:solidFill>
                  <a:srgbClr val="1E3A5F"/>
                </a:solidFill>
                <a:latin typeface="Trebuchet MS"/>
                <a:ea typeface="Trebuchet MS"/>
                <a:cs typeface="Trebuchet MS"/>
                <a:sym typeface="Trebuchet MS"/>
              </a:rPr>
              <a:t>only knew your course?</a:t>
            </a:r>
            <a:endParaRPr b="0" i="0" sz="2600" u="none" cap="none" strike="noStrike">
              <a:solidFill>
                <a:schemeClr val="dk1"/>
              </a:solidFill>
              <a:latin typeface="Calibri"/>
              <a:ea typeface="Calibri"/>
              <a:cs typeface="Calibri"/>
              <a:sym typeface="Calibri"/>
            </a:endParaRPr>
          </a:p>
        </p:txBody>
      </p:sp>
      <p:sp>
        <p:nvSpPr>
          <p:cNvPr id="29" name="Google Shape;29;p1"/>
          <p:cNvSpPr/>
          <p:nvPr/>
        </p:nvSpPr>
        <p:spPr>
          <a:xfrm>
            <a:off x="4023360" y="1874520"/>
            <a:ext cx="4846320" cy="11887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350"/>
              <a:buFont typeface="Calibri"/>
              <a:buNone/>
            </a:pPr>
            <a:r>
              <a:rPr b="0" i="0" lang="en-US" sz="1350" u="none" cap="none" strike="noStrike">
                <a:solidFill>
                  <a:srgbClr val="5A7A7E"/>
                </a:solidFill>
                <a:latin typeface="Calibri"/>
                <a:ea typeface="Calibri"/>
                <a:cs typeface="Calibri"/>
                <a:sym typeface="Calibri"/>
              </a:rPr>
              <a:t>A retrieval-augmented generation system that generates grounded explanations and practice quizzes strictly from Unsupervised Learning course materials</a:t>
            </a:r>
            <a:r>
              <a:rPr lang="en-US" sz="1350">
                <a:solidFill>
                  <a:srgbClr val="5A7A7E"/>
                </a:solidFill>
                <a:latin typeface="Calibri"/>
                <a:ea typeface="Calibri"/>
                <a:cs typeface="Calibri"/>
                <a:sym typeface="Calibri"/>
              </a:rPr>
              <a:t>:</a:t>
            </a:r>
            <a:r>
              <a:rPr b="0" i="0" lang="en-US" sz="1350" u="none" cap="none" strike="noStrike">
                <a:solidFill>
                  <a:srgbClr val="5A7A7E"/>
                </a:solidFill>
                <a:latin typeface="Calibri"/>
                <a:ea typeface="Calibri"/>
                <a:cs typeface="Calibri"/>
                <a:sym typeface="Calibri"/>
              </a:rPr>
              <a:t> slides, notes, R code, and datasets.</a:t>
            </a:r>
            <a:endParaRPr b="0" i="0" sz="1350" u="none" cap="none" strike="noStrike">
              <a:solidFill>
                <a:schemeClr val="dk1"/>
              </a:solidFill>
              <a:latin typeface="Calibri"/>
              <a:ea typeface="Calibri"/>
              <a:cs typeface="Calibri"/>
              <a:sym typeface="Calibri"/>
            </a:endParaRPr>
          </a:p>
        </p:txBody>
      </p:sp>
      <p:sp>
        <p:nvSpPr>
          <p:cNvPr id="30" name="Google Shape;30;p1"/>
          <p:cNvSpPr/>
          <p:nvPr/>
        </p:nvSpPr>
        <p:spPr>
          <a:xfrm>
            <a:off x="4023360" y="3246120"/>
            <a:ext cx="1508760" cy="347472"/>
          </a:xfrm>
          <a:prstGeom prst="roundRect">
            <a:avLst>
              <a:gd fmla="val 26316" name="adj"/>
            </a:avLst>
          </a:prstGeom>
          <a:solidFill>
            <a:srgbClr val="E8F7F4"/>
          </a:solidFill>
          <a:ln cap="flat" cmpd="sng" w="12700">
            <a:solidFill>
              <a:srgbClr val="B2D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4023360" y="3246120"/>
            <a:ext cx="1508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1000"/>
              <a:buFont typeface="Calibri"/>
              <a:buNone/>
            </a:pPr>
            <a:r>
              <a:rPr b="1" i="0" lang="en-US" sz="1000" u="none" cap="none" strike="noStrike">
                <a:solidFill>
                  <a:srgbClr val="0B5E6E"/>
                </a:solidFill>
                <a:latin typeface="Calibri"/>
                <a:ea typeface="Calibri"/>
                <a:cs typeface="Calibri"/>
                <a:sym typeface="Calibri"/>
              </a:rPr>
              <a:t>📄  Course-grounded</a:t>
            </a:r>
            <a:endParaRPr b="0" i="0" sz="1000" u="none" cap="none" strike="noStrike">
              <a:solidFill>
                <a:schemeClr val="dk1"/>
              </a:solidFill>
              <a:latin typeface="Calibri"/>
              <a:ea typeface="Calibri"/>
              <a:cs typeface="Calibri"/>
              <a:sym typeface="Calibri"/>
            </a:endParaRPr>
          </a:p>
        </p:txBody>
      </p:sp>
      <p:sp>
        <p:nvSpPr>
          <p:cNvPr id="32" name="Google Shape;32;p1"/>
          <p:cNvSpPr/>
          <p:nvPr/>
        </p:nvSpPr>
        <p:spPr>
          <a:xfrm>
            <a:off x="5650992" y="3246120"/>
            <a:ext cx="1508760" cy="347472"/>
          </a:xfrm>
          <a:prstGeom prst="roundRect">
            <a:avLst>
              <a:gd fmla="val 26316" name="adj"/>
            </a:avLst>
          </a:prstGeom>
          <a:solidFill>
            <a:srgbClr val="E8F7F4"/>
          </a:solidFill>
          <a:ln cap="flat" cmpd="sng" w="12700">
            <a:solidFill>
              <a:srgbClr val="B2D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5650992" y="3246120"/>
            <a:ext cx="1508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1000"/>
              <a:buFont typeface="Calibri"/>
              <a:buNone/>
            </a:pPr>
            <a:r>
              <a:rPr b="1" i="0" lang="en-US" sz="1000" u="none" cap="none" strike="noStrike">
                <a:solidFill>
                  <a:srgbClr val="0B5E6E"/>
                </a:solidFill>
                <a:latin typeface="Calibri"/>
                <a:ea typeface="Calibri"/>
                <a:cs typeface="Calibri"/>
                <a:sym typeface="Calibri"/>
              </a:rPr>
              <a:t>🔍  Smart retrieval</a:t>
            </a:r>
            <a:endParaRPr b="0" i="0" sz="1000" u="none" cap="none" strike="noStrike">
              <a:solidFill>
                <a:schemeClr val="dk1"/>
              </a:solidFill>
              <a:latin typeface="Calibri"/>
              <a:ea typeface="Calibri"/>
              <a:cs typeface="Calibri"/>
              <a:sym typeface="Calibri"/>
            </a:endParaRPr>
          </a:p>
        </p:txBody>
      </p:sp>
      <p:sp>
        <p:nvSpPr>
          <p:cNvPr id="34" name="Google Shape;34;p1"/>
          <p:cNvSpPr/>
          <p:nvPr/>
        </p:nvSpPr>
        <p:spPr>
          <a:xfrm>
            <a:off x="7278624" y="3246120"/>
            <a:ext cx="1508760" cy="347472"/>
          </a:xfrm>
          <a:prstGeom prst="roundRect">
            <a:avLst>
              <a:gd fmla="val 26316" name="adj"/>
            </a:avLst>
          </a:prstGeom>
          <a:solidFill>
            <a:srgbClr val="E8F7F4"/>
          </a:solidFill>
          <a:ln cap="flat" cmpd="sng" w="12700">
            <a:solidFill>
              <a:srgbClr val="B2D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7278624" y="3246120"/>
            <a:ext cx="1508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1000"/>
              <a:buFont typeface="Calibri"/>
              <a:buNone/>
            </a:pPr>
            <a:r>
              <a:rPr b="1" i="0" lang="en-US" sz="1000" u="none" cap="none" strike="noStrike">
                <a:solidFill>
                  <a:srgbClr val="0B5E6E"/>
                </a:solidFill>
                <a:latin typeface="Calibri"/>
                <a:ea typeface="Calibri"/>
                <a:cs typeface="Calibri"/>
                <a:sym typeface="Calibri"/>
              </a:rPr>
              <a:t>🧪  Auto quiz gen</a:t>
            </a:r>
            <a:endParaRPr b="0" i="0" sz="1000" u="none" cap="none" strike="noStrike">
              <a:solidFill>
                <a:schemeClr val="dk1"/>
              </a:solidFill>
              <a:latin typeface="Calibri"/>
              <a:ea typeface="Calibri"/>
              <a:cs typeface="Calibri"/>
              <a:sym typeface="Calibri"/>
            </a:endParaRPr>
          </a:p>
        </p:txBody>
      </p:sp>
      <p:sp>
        <p:nvSpPr>
          <p:cNvPr id="36" name="Google Shape;36;p1"/>
          <p:cNvSpPr/>
          <p:nvPr/>
        </p:nvSpPr>
        <p:spPr>
          <a:xfrm>
            <a:off x="0" y="5001768"/>
            <a:ext cx="9144000" cy="141732"/>
          </a:xfrm>
          <a:prstGeom prst="rect">
            <a:avLst/>
          </a:prstGeom>
          <a:solidFill>
            <a:srgbClr val="0A2A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365760" y="5001768"/>
            <a:ext cx="8412480" cy="1417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7A7E"/>
              </a:buClr>
              <a:buSzPts val="800"/>
              <a:buFont typeface="Calibri"/>
              <a:buNone/>
            </a:pPr>
            <a:r>
              <a:rPr b="0" i="0" lang="en-US" sz="800" u="none" cap="none" strike="noStrike">
                <a:solidFill>
                  <a:srgbClr val="4A7A7E"/>
                </a:solidFill>
                <a:latin typeface="Calibri"/>
                <a:ea typeface="Calibri"/>
                <a:cs typeface="Calibri"/>
                <a:sym typeface="Calibri"/>
              </a:rPr>
              <a:t>RAG Test Maker Chatbot  //  Unsupervised Learning</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 name="Shape 42"/>
        <p:cNvGrpSpPr/>
        <p:nvPr/>
      </p:nvGrpSpPr>
      <p:grpSpPr>
        <a:xfrm>
          <a:off x="0" y="0"/>
          <a:ext cx="0" cy="0"/>
          <a:chOff x="0" y="0"/>
          <a:chExt cx="0" cy="0"/>
        </a:xfrm>
      </p:grpSpPr>
      <p:sp>
        <p:nvSpPr>
          <p:cNvPr id="43" name="Google Shape;43;p2"/>
          <p:cNvSpPr/>
          <p:nvPr/>
        </p:nvSpPr>
        <p:spPr>
          <a:xfrm>
            <a:off x="411480" y="201168"/>
            <a:ext cx="1371600" cy="246888"/>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411480" y="201168"/>
            <a:ext cx="137160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01  CONTEXT</a:t>
            </a:r>
            <a:endParaRPr b="0" i="0" sz="800" u="none" cap="none" strike="noStrike">
              <a:solidFill>
                <a:schemeClr val="dk1"/>
              </a:solidFill>
              <a:latin typeface="Calibri"/>
              <a:ea typeface="Calibri"/>
              <a:cs typeface="Calibri"/>
              <a:sym typeface="Calibri"/>
            </a:endParaRPr>
          </a:p>
        </p:txBody>
      </p:sp>
      <p:sp>
        <p:nvSpPr>
          <p:cNvPr id="45" name="Google Shape;45;p2"/>
          <p:cNvSpPr/>
          <p:nvPr/>
        </p:nvSpPr>
        <p:spPr>
          <a:xfrm>
            <a:off x="411475" y="606550"/>
            <a:ext cx="4671000" cy="1051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000"/>
              <a:buFont typeface="Trebuchet MS"/>
              <a:buNone/>
            </a:pPr>
            <a:r>
              <a:rPr b="1" i="0" lang="en-US" sz="2600" u="none" cap="none" strike="noStrike">
                <a:solidFill>
                  <a:srgbClr val="1E3A5F"/>
                </a:solidFill>
                <a:latin typeface="Trebuchet MS"/>
                <a:ea typeface="Trebuchet MS"/>
                <a:cs typeface="Trebuchet MS"/>
                <a:sym typeface="Trebuchet MS"/>
              </a:rPr>
              <a:t>The Problem with Generic AI</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A5F"/>
              </a:buClr>
              <a:buSzPts val="3000"/>
              <a:buFont typeface="Trebuchet MS"/>
              <a:buNone/>
            </a:pPr>
            <a:r>
              <a:rPr b="1" i="0" lang="en-US" sz="2600" u="none" cap="none" strike="noStrike">
                <a:solidFill>
                  <a:srgbClr val="1E3A5F"/>
                </a:solidFill>
                <a:latin typeface="Trebuchet MS"/>
                <a:ea typeface="Trebuchet MS"/>
                <a:cs typeface="Trebuchet MS"/>
                <a:sym typeface="Trebuchet MS"/>
              </a:rPr>
              <a:t>for Course Study</a:t>
            </a:r>
            <a:endParaRPr b="0" i="0" sz="2600" u="none" cap="none" strike="noStrike">
              <a:solidFill>
                <a:schemeClr val="dk1"/>
              </a:solidFill>
              <a:latin typeface="Calibri"/>
              <a:ea typeface="Calibri"/>
              <a:cs typeface="Calibri"/>
              <a:sym typeface="Calibri"/>
            </a:endParaRPr>
          </a:p>
        </p:txBody>
      </p:sp>
      <p:sp>
        <p:nvSpPr>
          <p:cNvPr id="46" name="Google Shape;46;p2"/>
          <p:cNvSpPr/>
          <p:nvPr/>
        </p:nvSpPr>
        <p:spPr>
          <a:xfrm>
            <a:off x="411480" y="1691640"/>
            <a:ext cx="4572000" cy="10515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250"/>
              <a:buFont typeface="Calibri"/>
              <a:buNone/>
            </a:pPr>
            <a:r>
              <a:rPr b="0" i="0" lang="en-US" sz="1250" u="none" cap="none" strike="noStrike">
                <a:solidFill>
                  <a:srgbClr val="5A7A7E"/>
                </a:solidFill>
                <a:latin typeface="Calibri"/>
                <a:ea typeface="Calibri"/>
                <a:cs typeface="Calibri"/>
                <a:sym typeface="Calibri"/>
              </a:rPr>
              <a:t>Large language models like GPT-4 and Gemini are remarkable generalists. But when students study a specific course, generic answers create a dangerous illusion of learning — the model answers confidently about topics it was never taught in class.</a:t>
            </a:r>
            <a:endParaRPr b="0" i="0" sz="1250" u="none" cap="none" strike="noStrike">
              <a:solidFill>
                <a:schemeClr val="dk1"/>
              </a:solidFill>
              <a:latin typeface="Calibri"/>
              <a:ea typeface="Calibri"/>
              <a:cs typeface="Calibri"/>
              <a:sym typeface="Calibri"/>
            </a:endParaRPr>
          </a:p>
        </p:txBody>
      </p:sp>
      <p:sp>
        <p:nvSpPr>
          <p:cNvPr id="47" name="Google Shape;47;p2"/>
          <p:cNvSpPr/>
          <p:nvPr/>
        </p:nvSpPr>
        <p:spPr>
          <a:xfrm>
            <a:off x="411480" y="2880360"/>
            <a:ext cx="4480560" cy="173736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02920" y="2907792"/>
            <a:ext cx="42062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6200"/>
              <a:buFont typeface="Trebuchet MS"/>
              <a:buNone/>
            </a:pPr>
            <a:r>
              <a:rPr b="1" i="0" lang="en-US" sz="6200" u="none" cap="none" strike="noStrike">
                <a:solidFill>
                  <a:srgbClr val="10B981"/>
                </a:solidFill>
                <a:latin typeface="Trebuchet MS"/>
                <a:ea typeface="Trebuchet MS"/>
                <a:cs typeface="Trebuchet MS"/>
                <a:sym typeface="Trebuchet MS"/>
              </a:rPr>
              <a:t>~80%</a:t>
            </a:r>
            <a:endParaRPr b="0" i="0" sz="6200" u="none" cap="none" strike="noStrike">
              <a:solidFill>
                <a:schemeClr val="dk1"/>
              </a:solidFill>
              <a:latin typeface="Calibri"/>
              <a:ea typeface="Calibri"/>
              <a:cs typeface="Calibri"/>
              <a:sym typeface="Calibri"/>
            </a:endParaRPr>
          </a:p>
        </p:txBody>
      </p:sp>
      <p:sp>
        <p:nvSpPr>
          <p:cNvPr id="49" name="Google Shape;49;p2"/>
          <p:cNvSpPr/>
          <p:nvPr/>
        </p:nvSpPr>
        <p:spPr>
          <a:xfrm>
            <a:off x="594360" y="3822192"/>
            <a:ext cx="41148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1050"/>
              <a:buFont typeface="Calibri"/>
              <a:buNone/>
            </a:pPr>
            <a:r>
              <a:rPr b="0" i="1" lang="en-US" sz="1050" u="none" cap="none" strike="noStrike">
                <a:solidFill>
                  <a:srgbClr val="AADDDA"/>
                </a:solidFill>
                <a:latin typeface="Calibri"/>
                <a:ea typeface="Calibri"/>
                <a:cs typeface="Calibri"/>
                <a:sym typeface="Calibri"/>
              </a:rPr>
              <a:t>of student queries to generic AI return answers not traceable to their actual course materials*</a:t>
            </a:r>
            <a:endParaRPr b="0" i="0" sz="1050" u="none" cap="none" strike="noStrike">
              <a:solidFill>
                <a:schemeClr val="dk1"/>
              </a:solidFill>
              <a:latin typeface="Calibri"/>
              <a:ea typeface="Calibri"/>
              <a:cs typeface="Calibri"/>
              <a:sym typeface="Calibri"/>
            </a:endParaRPr>
          </a:p>
        </p:txBody>
      </p:sp>
      <p:sp>
        <p:nvSpPr>
          <p:cNvPr id="50" name="Google Shape;50;p2"/>
          <p:cNvSpPr/>
          <p:nvPr/>
        </p:nvSpPr>
        <p:spPr>
          <a:xfrm>
            <a:off x="411480" y="4846320"/>
            <a:ext cx="448056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750"/>
              <a:buFont typeface="Calibri"/>
              <a:buNone/>
            </a:pPr>
            <a:r>
              <a:rPr b="0" i="1" lang="en-US" sz="750" u="none" cap="none" strike="noStrike">
                <a:solidFill>
                  <a:srgbClr val="5A7A7E"/>
                </a:solidFill>
                <a:latin typeface="Calibri"/>
                <a:ea typeface="Calibri"/>
                <a:cs typeface="Calibri"/>
                <a:sym typeface="Calibri"/>
              </a:rPr>
              <a:t>*Estimated based on off-topic outputs in testing with vague queries</a:t>
            </a:r>
            <a:endParaRPr b="0" i="0" sz="750" u="none" cap="none" strike="noStrike">
              <a:solidFill>
                <a:schemeClr val="dk1"/>
              </a:solidFill>
              <a:latin typeface="Calibri"/>
              <a:ea typeface="Calibri"/>
              <a:cs typeface="Calibri"/>
              <a:sym typeface="Calibri"/>
            </a:endParaRPr>
          </a:p>
        </p:txBody>
      </p:sp>
      <p:sp>
        <p:nvSpPr>
          <p:cNvPr id="51" name="Google Shape;51;p2"/>
          <p:cNvSpPr/>
          <p:nvPr/>
        </p:nvSpPr>
        <p:spPr>
          <a:xfrm>
            <a:off x="5257800" y="201168"/>
            <a:ext cx="3566160" cy="1371600"/>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5257800" y="201168"/>
            <a:ext cx="64008" cy="1371600"/>
          </a:xfrm>
          <a:prstGeom prst="rect">
            <a:avLst/>
          </a:prstGeom>
          <a:solidFill>
            <a:srgbClr val="0A2A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5440680" y="310896"/>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400"/>
              <a:buFont typeface="Trebuchet MS"/>
              <a:buNone/>
            </a:pPr>
            <a:r>
              <a:rPr b="1" i="0" lang="en-US" sz="1400" u="none" cap="none" strike="noStrike">
                <a:solidFill>
                  <a:srgbClr val="1E3A5F"/>
                </a:solidFill>
                <a:latin typeface="Trebuchet MS"/>
                <a:ea typeface="Trebuchet MS"/>
                <a:cs typeface="Trebuchet MS"/>
                <a:sym typeface="Trebuchet MS"/>
              </a:rPr>
              <a:t>⚠  Hallucination risk</a:t>
            </a:r>
            <a:endParaRPr b="0" i="0" sz="1400" u="none" cap="none" strike="noStrike">
              <a:solidFill>
                <a:schemeClr val="dk1"/>
              </a:solidFill>
              <a:latin typeface="Calibri"/>
              <a:ea typeface="Calibri"/>
              <a:cs typeface="Calibri"/>
              <a:sym typeface="Calibri"/>
            </a:endParaRPr>
          </a:p>
        </p:txBody>
      </p:sp>
      <p:sp>
        <p:nvSpPr>
          <p:cNvPr id="54" name="Google Shape;54;p2"/>
          <p:cNvSpPr/>
          <p:nvPr/>
        </p:nvSpPr>
        <p:spPr>
          <a:xfrm>
            <a:off x="5440680" y="704088"/>
            <a:ext cx="329184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50"/>
              <a:buFont typeface="Calibri"/>
              <a:buNone/>
            </a:pPr>
            <a:r>
              <a:rPr b="0" i="0" lang="en-US" sz="1150" u="none" cap="none" strike="noStrike">
                <a:solidFill>
                  <a:srgbClr val="5A7A7E"/>
                </a:solidFill>
                <a:latin typeface="Calibri"/>
                <a:ea typeface="Calibri"/>
                <a:cs typeface="Calibri"/>
                <a:sym typeface="Calibri"/>
              </a:rPr>
              <a:t>Generic AI fabricates course-specific details — referencing topics, examples, or notation the professor never used.</a:t>
            </a:r>
            <a:endParaRPr b="0" i="0" sz="1150" u="none" cap="none" strike="noStrike">
              <a:solidFill>
                <a:schemeClr val="dk1"/>
              </a:solidFill>
              <a:latin typeface="Calibri"/>
              <a:ea typeface="Calibri"/>
              <a:cs typeface="Calibri"/>
              <a:sym typeface="Calibri"/>
            </a:endParaRPr>
          </a:p>
        </p:txBody>
      </p:sp>
      <p:sp>
        <p:nvSpPr>
          <p:cNvPr id="55" name="Google Shape;55;p2"/>
          <p:cNvSpPr/>
          <p:nvPr/>
        </p:nvSpPr>
        <p:spPr>
          <a:xfrm>
            <a:off x="5257800" y="1737360"/>
            <a:ext cx="3566160" cy="1371600"/>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257800" y="1737360"/>
            <a:ext cx="64008" cy="1371600"/>
          </a:xfrm>
          <a:prstGeom prst="rect">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440680" y="1847088"/>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400"/>
              <a:buFont typeface="Trebuchet MS"/>
              <a:buNone/>
            </a:pPr>
            <a:r>
              <a:rPr b="1" i="0" lang="en-US" sz="1400" u="none" cap="none" strike="noStrike">
                <a:solidFill>
                  <a:srgbClr val="1E3A5F"/>
                </a:solidFill>
                <a:latin typeface="Trebuchet MS"/>
                <a:ea typeface="Trebuchet MS"/>
                <a:cs typeface="Trebuchet MS"/>
                <a:sym typeface="Trebuchet MS"/>
              </a:rPr>
              <a:t>📂  Context blindness</a:t>
            </a:r>
            <a:endParaRPr b="0" i="0" sz="1400" u="none" cap="none" strike="noStrike">
              <a:solidFill>
                <a:schemeClr val="dk1"/>
              </a:solidFill>
              <a:latin typeface="Calibri"/>
              <a:ea typeface="Calibri"/>
              <a:cs typeface="Calibri"/>
              <a:sym typeface="Calibri"/>
            </a:endParaRPr>
          </a:p>
        </p:txBody>
      </p:sp>
      <p:sp>
        <p:nvSpPr>
          <p:cNvPr id="58" name="Google Shape;58;p2"/>
          <p:cNvSpPr/>
          <p:nvPr/>
        </p:nvSpPr>
        <p:spPr>
          <a:xfrm>
            <a:off x="5440680" y="2240280"/>
            <a:ext cx="329184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50"/>
              <a:buFont typeface="Calibri"/>
              <a:buNone/>
            </a:pPr>
            <a:r>
              <a:rPr b="0" i="0" lang="en-US" sz="1150" u="none" cap="none" strike="noStrike">
                <a:solidFill>
                  <a:srgbClr val="5A7A7E"/>
                </a:solidFill>
                <a:latin typeface="Calibri"/>
                <a:ea typeface="Calibri"/>
                <a:cs typeface="Calibri"/>
                <a:sym typeface="Calibri"/>
              </a:rPr>
              <a:t>Models cannot access lecture slides, R scripts, or spreadsheet data unless explicitly provided. They guess.</a:t>
            </a:r>
            <a:endParaRPr b="0" i="0" sz="1150" u="none" cap="none" strike="noStrike">
              <a:solidFill>
                <a:schemeClr val="dk1"/>
              </a:solidFill>
              <a:latin typeface="Calibri"/>
              <a:ea typeface="Calibri"/>
              <a:cs typeface="Calibri"/>
              <a:sym typeface="Calibri"/>
            </a:endParaRPr>
          </a:p>
        </p:txBody>
      </p:sp>
      <p:sp>
        <p:nvSpPr>
          <p:cNvPr id="59" name="Google Shape;59;p2"/>
          <p:cNvSpPr/>
          <p:nvPr/>
        </p:nvSpPr>
        <p:spPr>
          <a:xfrm>
            <a:off x="5257800" y="3273552"/>
            <a:ext cx="3566160" cy="1371600"/>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257800" y="3273552"/>
            <a:ext cx="64008" cy="13716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440680" y="3383280"/>
            <a:ext cx="32918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400"/>
              <a:buFont typeface="Trebuchet MS"/>
              <a:buNone/>
            </a:pPr>
            <a:r>
              <a:rPr b="1" i="0" lang="en-US" sz="1400" u="none" cap="none" strike="noStrike">
                <a:solidFill>
                  <a:srgbClr val="1E3A5F"/>
                </a:solidFill>
                <a:latin typeface="Trebuchet MS"/>
                <a:ea typeface="Trebuchet MS"/>
                <a:cs typeface="Trebuchet MS"/>
                <a:sym typeface="Trebuchet MS"/>
              </a:rPr>
              <a:t>🎯  The fix: RAG</a:t>
            </a:r>
            <a:endParaRPr b="0" i="0" sz="1400" u="none" cap="none" strike="noStrike">
              <a:solidFill>
                <a:schemeClr val="dk1"/>
              </a:solidFill>
              <a:latin typeface="Calibri"/>
              <a:ea typeface="Calibri"/>
              <a:cs typeface="Calibri"/>
              <a:sym typeface="Calibri"/>
            </a:endParaRPr>
          </a:p>
        </p:txBody>
      </p:sp>
      <p:sp>
        <p:nvSpPr>
          <p:cNvPr id="62" name="Google Shape;62;p2"/>
          <p:cNvSpPr/>
          <p:nvPr/>
        </p:nvSpPr>
        <p:spPr>
          <a:xfrm>
            <a:off x="5440680" y="3776472"/>
            <a:ext cx="3291840"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50"/>
              <a:buFont typeface="Calibri"/>
              <a:buNone/>
            </a:pPr>
            <a:r>
              <a:rPr b="0" i="0" lang="en-US" sz="1150" u="none" cap="none" strike="noStrike">
                <a:solidFill>
                  <a:srgbClr val="5A7A7E"/>
                </a:solidFill>
                <a:latin typeface="Calibri"/>
                <a:ea typeface="Calibri"/>
                <a:cs typeface="Calibri"/>
                <a:sym typeface="Calibri"/>
              </a:rPr>
              <a:t>Retrieval-Augmented Generation forces the model to reason from real course documents — every answer is traceable.</a:t>
            </a:r>
            <a:endParaRPr b="0" i="0" sz="1150" u="none" cap="none" strike="noStrike">
              <a:solidFill>
                <a:schemeClr val="dk1"/>
              </a:solidFill>
              <a:latin typeface="Calibri"/>
              <a:ea typeface="Calibri"/>
              <a:cs typeface="Calibri"/>
              <a:sym typeface="Calibri"/>
            </a:endParaRPr>
          </a:p>
        </p:txBody>
      </p:sp>
      <p:sp>
        <p:nvSpPr>
          <p:cNvPr id="63" name="Google Shape;63;p2"/>
          <p:cNvSpPr/>
          <p:nvPr/>
        </p:nvSpPr>
        <p:spPr>
          <a:xfrm>
            <a:off x="0" y="5001768"/>
            <a:ext cx="9144000" cy="141732"/>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365760" y="5001768"/>
            <a:ext cx="6400800" cy="1417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The Problem</a:t>
            </a:r>
            <a:endParaRPr b="0" i="0" sz="800" u="none" cap="none" strike="noStrike">
              <a:solidFill>
                <a:schemeClr val="dk1"/>
              </a:solidFill>
              <a:latin typeface="Calibri"/>
              <a:ea typeface="Calibri"/>
              <a:cs typeface="Calibri"/>
              <a:sym typeface="Calibri"/>
            </a:endParaRPr>
          </a:p>
        </p:txBody>
      </p:sp>
      <p:sp>
        <p:nvSpPr>
          <p:cNvPr id="65" name="Google Shape;65;p2"/>
          <p:cNvSpPr/>
          <p:nvPr/>
        </p:nvSpPr>
        <p:spPr>
          <a:xfrm>
            <a:off x="8229600" y="5001768"/>
            <a:ext cx="640080" cy="1417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2 /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g3cfa2e4f4a0_0_6"/>
          <p:cNvSpPr/>
          <p:nvPr/>
        </p:nvSpPr>
        <p:spPr>
          <a:xfrm>
            <a:off x="461010" y="1040892"/>
            <a:ext cx="8503800" cy="2058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5A7A7E"/>
              </a:buClr>
              <a:buSzPts val="900"/>
              <a:buFont typeface="Calibri"/>
              <a:buNone/>
            </a:pPr>
            <a:r>
              <a:rPr b="0" i="1" lang="en-US" sz="1200" u="none" cap="none" strike="noStrike">
                <a:solidFill>
                  <a:srgbClr val="5A7A7E"/>
                </a:solidFill>
                <a:latin typeface="Calibri"/>
                <a:ea typeface="Calibri"/>
                <a:cs typeface="Calibri"/>
                <a:sym typeface="Calibri"/>
              </a:rPr>
              <a:t>How the system indexes course files (once) and answers student questions (every query)</a:t>
            </a:r>
            <a:endParaRPr b="0" i="0" sz="1200" u="none" cap="none" strike="noStrike">
              <a:solidFill>
                <a:schemeClr val="dk1"/>
              </a:solidFill>
              <a:latin typeface="Calibri"/>
              <a:ea typeface="Calibri"/>
              <a:cs typeface="Calibri"/>
              <a:sym typeface="Calibri"/>
            </a:endParaRPr>
          </a:p>
        </p:txBody>
      </p:sp>
      <p:sp>
        <p:nvSpPr>
          <p:cNvPr id="72" name="Google Shape;72;g3cfa2e4f4a0_0_6"/>
          <p:cNvSpPr/>
          <p:nvPr/>
        </p:nvSpPr>
        <p:spPr>
          <a:xfrm>
            <a:off x="240025" y="1752600"/>
            <a:ext cx="926700" cy="1820700"/>
          </a:xfrm>
          <a:prstGeom prst="rect">
            <a:avLst/>
          </a:prstGeom>
          <a:solidFill>
            <a:srgbClr val="FFFFFF"/>
          </a:solidFill>
          <a:ln cap="flat" cmpd="sng" w="17150">
            <a:solidFill>
              <a:srgbClr val="0891B2"/>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g3cfa2e4f4a0_0_6"/>
          <p:cNvSpPr/>
          <p:nvPr/>
        </p:nvSpPr>
        <p:spPr>
          <a:xfrm>
            <a:off x="240030" y="1752600"/>
            <a:ext cx="926700" cy="48000"/>
          </a:xfrm>
          <a:prstGeom prst="rect">
            <a:avLst/>
          </a:prstGeom>
          <a:solidFill>
            <a:srgbClr val="0891B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g3cfa2e4f4a0_0_6"/>
          <p:cNvSpPr/>
          <p:nvPr/>
        </p:nvSpPr>
        <p:spPr>
          <a:xfrm>
            <a:off x="322326"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Course Files</a:t>
            </a:r>
            <a:endParaRPr b="0" i="0" sz="800" u="none" cap="none" strike="noStrike">
              <a:solidFill>
                <a:schemeClr val="dk1"/>
              </a:solidFill>
              <a:latin typeface="Calibri"/>
              <a:ea typeface="Calibri"/>
              <a:cs typeface="Calibri"/>
              <a:sym typeface="Calibri"/>
            </a:endParaRPr>
          </a:p>
        </p:txBody>
      </p:sp>
      <p:sp>
        <p:nvSpPr>
          <p:cNvPr id="75" name="Google Shape;75;g3cfa2e4f4a0_0_6"/>
          <p:cNvSpPr/>
          <p:nvPr/>
        </p:nvSpPr>
        <p:spPr>
          <a:xfrm>
            <a:off x="322326"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PDF, PPTX, R, XLSX</a:t>
            </a:r>
            <a:endParaRPr b="0" i="0" sz="800" u="none" cap="none" strike="noStrike">
              <a:solidFill>
                <a:schemeClr val="dk1"/>
              </a:solidFill>
              <a:latin typeface="Calibri"/>
              <a:ea typeface="Calibri"/>
              <a:cs typeface="Calibri"/>
              <a:sym typeface="Calibri"/>
            </a:endParaRPr>
          </a:p>
        </p:txBody>
      </p:sp>
      <p:sp>
        <p:nvSpPr>
          <p:cNvPr id="76" name="Google Shape;76;g3cfa2e4f4a0_0_6"/>
          <p:cNvSpPr/>
          <p:nvPr/>
        </p:nvSpPr>
        <p:spPr>
          <a:xfrm>
            <a:off x="322326"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from</a:t>
            </a:r>
            <a:r>
              <a:rPr b="0" i="1" lang="en-US" sz="700" u="none" cap="none" strike="noStrike">
                <a:solidFill>
                  <a:srgbClr val="5A7A7E"/>
                </a:solidFill>
                <a:latin typeface="Calibri"/>
                <a:ea typeface="Calibri"/>
                <a:cs typeface="Calibri"/>
                <a:sym typeface="Calibri"/>
              </a:rPr>
              <a:t> </a:t>
            </a:r>
            <a:r>
              <a:rPr b="0" i="1" lang="en-US" sz="700" u="none" cap="none" strike="noStrike">
                <a:solidFill>
                  <a:srgbClr val="5A7A7E"/>
                </a:solidFill>
                <a:latin typeface="Calibri"/>
                <a:ea typeface="Calibri"/>
                <a:cs typeface="Calibri"/>
                <a:sym typeface="Calibri"/>
              </a:rPr>
              <a:t>Google</a:t>
            </a:r>
            <a:r>
              <a:rPr b="0" i="1" lang="en-US" sz="700" u="none" cap="none" strike="noStrike">
                <a:solidFill>
                  <a:srgbClr val="5A7A7E"/>
                </a:solidFill>
                <a:latin typeface="Calibri"/>
                <a:ea typeface="Calibri"/>
                <a:cs typeface="Calibri"/>
                <a:sym typeface="Calibri"/>
              </a:rPr>
              <a:t> </a:t>
            </a:r>
            <a:r>
              <a:rPr b="0" i="1" lang="en-US" sz="700" u="none" cap="none" strike="noStrike">
                <a:solidFill>
                  <a:srgbClr val="5A7A7E"/>
                </a:solidFill>
                <a:latin typeface="Calibri"/>
                <a:ea typeface="Calibri"/>
                <a:cs typeface="Calibri"/>
                <a:sym typeface="Calibri"/>
              </a:rPr>
              <a:t>Drive</a:t>
            </a:r>
            <a:endParaRPr b="0" i="0" sz="700" u="none" cap="none" strike="noStrike">
              <a:solidFill>
                <a:schemeClr val="dk1"/>
              </a:solidFill>
              <a:latin typeface="Calibri"/>
              <a:ea typeface="Calibri"/>
              <a:cs typeface="Calibri"/>
              <a:sym typeface="Calibri"/>
            </a:endParaRPr>
          </a:p>
        </p:txBody>
      </p:sp>
      <p:sp>
        <p:nvSpPr>
          <p:cNvPr id="77" name="Google Shape;77;g3cfa2e4f4a0_0_6"/>
          <p:cNvSpPr/>
          <p:nvPr/>
        </p:nvSpPr>
        <p:spPr>
          <a:xfrm>
            <a:off x="1317711" y="1752600"/>
            <a:ext cx="926700" cy="1820700"/>
          </a:xfrm>
          <a:prstGeom prst="rect">
            <a:avLst/>
          </a:prstGeom>
          <a:solidFill>
            <a:srgbClr val="FFFFFF"/>
          </a:solidFill>
          <a:ln cap="flat" cmpd="sng" w="17150">
            <a:solidFill>
              <a:srgbClr val="0B5E6E"/>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g3cfa2e4f4a0_0_6"/>
          <p:cNvSpPr/>
          <p:nvPr/>
        </p:nvSpPr>
        <p:spPr>
          <a:xfrm>
            <a:off x="1317715" y="1752600"/>
            <a:ext cx="926700" cy="48000"/>
          </a:xfrm>
          <a:prstGeom prst="rect">
            <a:avLst/>
          </a:prstGeom>
          <a:solidFill>
            <a:srgbClr val="0B5E6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g3cfa2e4f4a0_0_6"/>
          <p:cNvSpPr/>
          <p:nvPr/>
        </p:nvSpPr>
        <p:spPr>
          <a:xfrm>
            <a:off x="1400011"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Parse &amp; Chunk</a:t>
            </a:r>
            <a:endParaRPr b="0" i="0" sz="800" u="none" cap="none" strike="noStrike">
              <a:solidFill>
                <a:schemeClr val="dk1"/>
              </a:solidFill>
              <a:latin typeface="Calibri"/>
              <a:ea typeface="Calibri"/>
              <a:cs typeface="Calibri"/>
              <a:sym typeface="Calibri"/>
            </a:endParaRPr>
          </a:p>
        </p:txBody>
      </p:sp>
      <p:sp>
        <p:nvSpPr>
          <p:cNvPr id="80" name="Google Shape;80;g3cfa2e4f4a0_0_6"/>
          <p:cNvSpPr/>
          <p:nvPr/>
        </p:nvSpPr>
        <p:spPr>
          <a:xfrm>
            <a:off x="1400011"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Extract text</a:t>
            </a:r>
            <a:endParaRPr b="0" i="0" sz="800" u="none" cap="none" strike="noStrike">
              <a:solidFill>
                <a:schemeClr val="dk1"/>
              </a:solidFill>
              <a:latin typeface="Calibri"/>
              <a:ea typeface="Calibri"/>
              <a:cs typeface="Calibri"/>
              <a:sym typeface="Calibri"/>
            </a:endParaRPr>
          </a:p>
        </p:txBody>
      </p:sp>
      <p:sp>
        <p:nvSpPr>
          <p:cNvPr id="81" name="Google Shape;81;g3cfa2e4f4a0_0_6"/>
          <p:cNvSpPr/>
          <p:nvPr/>
        </p:nvSpPr>
        <p:spPr>
          <a:xfrm>
            <a:off x="1400011"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split into passages</a:t>
            </a:r>
            <a:endParaRPr b="0" i="1" sz="700" u="none" cap="none" strike="noStrike">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700"/>
              <a:buFont typeface="Calibri"/>
              <a:buNone/>
            </a:pPr>
            <a:r>
              <a:t/>
            </a:r>
            <a:endParaRPr i="1" sz="700">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700"/>
              <a:buFont typeface="Calibri"/>
              <a:buNone/>
            </a:pPr>
            <a:r>
              <a:rPr i="1" lang="en-US" sz="700">
                <a:solidFill>
                  <a:srgbClr val="5A7A7E"/>
                </a:solidFill>
                <a:latin typeface="Calibri"/>
                <a:ea typeface="Calibri"/>
                <a:cs typeface="Calibri"/>
                <a:sym typeface="Calibri"/>
              </a:rPr>
              <a:t>362 chunks total</a:t>
            </a:r>
            <a:endParaRPr i="1" sz="700">
              <a:solidFill>
                <a:srgbClr val="5A7A7E"/>
              </a:solidFill>
              <a:latin typeface="Calibri"/>
              <a:ea typeface="Calibri"/>
              <a:cs typeface="Calibri"/>
              <a:sym typeface="Calibri"/>
            </a:endParaRPr>
          </a:p>
        </p:txBody>
      </p:sp>
      <p:sp>
        <p:nvSpPr>
          <p:cNvPr id="82" name="Google Shape;82;g3cfa2e4f4a0_0_6"/>
          <p:cNvSpPr/>
          <p:nvPr/>
        </p:nvSpPr>
        <p:spPr>
          <a:xfrm>
            <a:off x="2395398" y="1752600"/>
            <a:ext cx="926700" cy="1820700"/>
          </a:xfrm>
          <a:prstGeom prst="rect">
            <a:avLst/>
          </a:prstGeom>
          <a:solidFill>
            <a:srgbClr val="FFFFFF"/>
          </a:solidFill>
          <a:ln cap="flat" cmpd="sng" w="17150">
            <a:solidFill>
              <a:srgbClr val="0B5E6E"/>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g3cfa2e4f4a0_0_6"/>
          <p:cNvSpPr/>
          <p:nvPr/>
        </p:nvSpPr>
        <p:spPr>
          <a:xfrm>
            <a:off x="2395402" y="1752600"/>
            <a:ext cx="926700" cy="48000"/>
          </a:xfrm>
          <a:prstGeom prst="rect">
            <a:avLst/>
          </a:prstGeom>
          <a:solidFill>
            <a:srgbClr val="0B5E6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g3cfa2e4f4a0_0_6"/>
          <p:cNvSpPr/>
          <p:nvPr/>
        </p:nvSpPr>
        <p:spPr>
          <a:xfrm>
            <a:off x="2477698"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Embed + Tag</a:t>
            </a:r>
            <a:endParaRPr b="0" i="0" sz="800" u="none" cap="none" strike="noStrike">
              <a:solidFill>
                <a:schemeClr val="dk1"/>
              </a:solidFill>
              <a:latin typeface="Calibri"/>
              <a:ea typeface="Calibri"/>
              <a:cs typeface="Calibri"/>
              <a:sym typeface="Calibri"/>
            </a:endParaRPr>
          </a:p>
        </p:txBody>
      </p:sp>
      <p:sp>
        <p:nvSpPr>
          <p:cNvPr id="85" name="Google Shape;85;g3cfa2e4f4a0_0_6"/>
          <p:cNvSpPr/>
          <p:nvPr/>
        </p:nvSpPr>
        <p:spPr>
          <a:xfrm>
            <a:off x="2477698"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HuggingFace embeddings</a:t>
            </a:r>
            <a:endParaRPr b="0" i="0" sz="800" u="none" cap="none" strike="noStrike">
              <a:solidFill>
                <a:schemeClr val="dk1"/>
              </a:solidFill>
              <a:latin typeface="Calibri"/>
              <a:ea typeface="Calibri"/>
              <a:cs typeface="Calibri"/>
              <a:sym typeface="Calibri"/>
            </a:endParaRPr>
          </a:p>
        </p:txBody>
      </p:sp>
      <p:sp>
        <p:nvSpPr>
          <p:cNvPr id="86" name="Google Shape;86;g3cfa2e4f4a0_0_6"/>
          <p:cNvSpPr/>
          <p:nvPr/>
        </p:nvSpPr>
        <p:spPr>
          <a:xfrm>
            <a:off x="2477700" y="2762999"/>
            <a:ext cx="8445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 metadata labels</a:t>
            </a:r>
            <a:endParaRPr b="0" i="1" sz="700" u="none" cap="none" strike="noStrike">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700"/>
              <a:buFont typeface="Calibri"/>
              <a:buNone/>
            </a:pPr>
            <a:r>
              <a:t/>
            </a:r>
            <a:endParaRPr i="1" sz="700">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700"/>
              <a:buFont typeface="Calibri"/>
              <a:buNone/>
            </a:pPr>
            <a:r>
              <a:rPr i="1" lang="en-US" sz="700">
                <a:solidFill>
                  <a:srgbClr val="5A7A7E"/>
                </a:solidFill>
                <a:latin typeface="Calibri"/>
                <a:ea typeface="Calibri"/>
                <a:cs typeface="Calibri"/>
                <a:sym typeface="Calibri"/>
              </a:rPr>
              <a:t>384-dimensional vector</a:t>
            </a:r>
            <a:endParaRPr i="1" sz="700">
              <a:solidFill>
                <a:srgbClr val="5A7A7E"/>
              </a:solidFill>
              <a:latin typeface="Calibri"/>
              <a:ea typeface="Calibri"/>
              <a:cs typeface="Calibri"/>
              <a:sym typeface="Calibri"/>
            </a:endParaRPr>
          </a:p>
        </p:txBody>
      </p:sp>
      <p:sp>
        <p:nvSpPr>
          <p:cNvPr id="87" name="Google Shape;87;g3cfa2e4f4a0_0_6"/>
          <p:cNvSpPr/>
          <p:nvPr/>
        </p:nvSpPr>
        <p:spPr>
          <a:xfrm>
            <a:off x="3473084" y="1752600"/>
            <a:ext cx="1097400" cy="1820700"/>
          </a:xfrm>
          <a:prstGeom prst="rect">
            <a:avLst/>
          </a:prstGeom>
          <a:solidFill>
            <a:srgbClr val="E8EDF8"/>
          </a:solidFill>
          <a:ln cap="flat" cmpd="sng" w="22850">
            <a:solidFill>
              <a:srgbClr val="1E3A5F"/>
            </a:solidFill>
            <a:prstDash val="solid"/>
            <a:round/>
            <a:headEnd len="sm" w="sm" type="none"/>
            <a:tailEnd len="sm" w="sm" type="none"/>
          </a:ln>
          <a:effectLst>
            <a:outerShdw blurRad="76200" rotWithShape="0" algn="bl" dir="8100000" dist="28575">
              <a:srgbClr val="000000">
                <a:alpha val="1098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8" name="Google Shape;88;g3cfa2e4f4a0_0_6"/>
          <p:cNvSpPr/>
          <p:nvPr/>
        </p:nvSpPr>
        <p:spPr>
          <a:xfrm>
            <a:off x="3473087" y="1752600"/>
            <a:ext cx="1097400" cy="48000"/>
          </a:xfrm>
          <a:prstGeom prst="rect">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g3cfa2e4f4a0_0_6"/>
          <p:cNvSpPr/>
          <p:nvPr/>
        </p:nvSpPr>
        <p:spPr>
          <a:xfrm>
            <a:off x="3733691" y="1903476"/>
            <a:ext cx="576000" cy="178200"/>
          </a:xfrm>
          <a:prstGeom prst="ellipse">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g3cfa2e4f4a0_0_6"/>
          <p:cNvSpPr/>
          <p:nvPr/>
        </p:nvSpPr>
        <p:spPr>
          <a:xfrm>
            <a:off x="3733691" y="1992630"/>
            <a:ext cx="576000" cy="301800"/>
          </a:xfrm>
          <a:prstGeom prst="rect">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g3cfa2e4f4a0_0_6"/>
          <p:cNvSpPr/>
          <p:nvPr/>
        </p:nvSpPr>
        <p:spPr>
          <a:xfrm>
            <a:off x="3733691" y="2198370"/>
            <a:ext cx="576000" cy="178200"/>
          </a:xfrm>
          <a:prstGeom prst="ellipse">
            <a:avLst/>
          </a:prstGeom>
          <a:solidFill>
            <a:srgbClr val="25357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g3cfa2e4f4a0_0_6"/>
          <p:cNvSpPr/>
          <p:nvPr/>
        </p:nvSpPr>
        <p:spPr>
          <a:xfrm>
            <a:off x="3774839" y="1937766"/>
            <a:ext cx="493800" cy="116400"/>
          </a:xfrm>
          <a:prstGeom prst="ellipse">
            <a:avLst/>
          </a:prstGeom>
          <a:solidFill>
            <a:srgbClr val="4A65B0"/>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g3cfa2e4f4a0_0_6"/>
          <p:cNvSpPr/>
          <p:nvPr/>
        </p:nvSpPr>
        <p:spPr>
          <a:xfrm>
            <a:off x="3541667" y="2493264"/>
            <a:ext cx="960000" cy="425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1000"/>
              <a:buFont typeface="Trebuchet MS"/>
              <a:buNone/>
            </a:pPr>
            <a:r>
              <a:rPr b="1" i="0" lang="en-US" sz="1000" u="none" cap="none" strike="noStrike">
                <a:solidFill>
                  <a:srgbClr val="1E3A5F"/>
                </a:solidFill>
                <a:latin typeface="Trebuchet MS"/>
                <a:ea typeface="Trebuchet MS"/>
                <a:cs typeface="Trebuchet MS"/>
                <a:sym typeface="Trebuchet MS"/>
              </a:rPr>
              <a:t>Vector</a:t>
            </a:r>
            <a:endParaRPr b="0" i="0" sz="1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3A5F"/>
              </a:buClr>
              <a:buSzPts val="1000"/>
              <a:buFont typeface="Trebuchet MS"/>
              <a:buNone/>
            </a:pPr>
            <a:r>
              <a:rPr b="1" i="0" lang="en-US" sz="1000" u="none" cap="none" strike="noStrike">
                <a:solidFill>
                  <a:srgbClr val="1E3A5F"/>
                </a:solidFill>
                <a:latin typeface="Trebuchet MS"/>
                <a:ea typeface="Trebuchet MS"/>
                <a:cs typeface="Trebuchet MS"/>
                <a:sym typeface="Trebuchet MS"/>
              </a:rPr>
              <a:t>Database</a:t>
            </a:r>
            <a:endParaRPr b="0" i="0" sz="1000" u="none" cap="none" strike="noStrike">
              <a:solidFill>
                <a:schemeClr val="dk1"/>
              </a:solidFill>
              <a:latin typeface="Calibri"/>
              <a:ea typeface="Calibri"/>
              <a:cs typeface="Calibri"/>
              <a:sym typeface="Calibri"/>
            </a:endParaRPr>
          </a:p>
        </p:txBody>
      </p:sp>
      <p:sp>
        <p:nvSpPr>
          <p:cNvPr id="94" name="Google Shape;94;g3cfa2e4f4a0_0_6"/>
          <p:cNvSpPr/>
          <p:nvPr/>
        </p:nvSpPr>
        <p:spPr>
          <a:xfrm>
            <a:off x="3541667" y="2945892"/>
            <a:ext cx="960000" cy="466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All indexed chunks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with embeddings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&amp; metadata tags</a:t>
            </a:r>
            <a:endParaRPr b="0" i="0" sz="800" u="none" cap="none" strike="noStrike">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800"/>
              <a:buFont typeface="Calibri"/>
              <a:buNone/>
            </a:pPr>
            <a:r>
              <a:t/>
            </a:r>
            <a:endParaRPr sz="800">
              <a:solidFill>
                <a:srgbClr val="5A7A7E"/>
              </a:solidFill>
              <a:latin typeface="Calibri"/>
              <a:ea typeface="Calibri"/>
              <a:cs typeface="Calibri"/>
              <a:sym typeface="Calibri"/>
            </a:endParaRPr>
          </a:p>
          <a:p>
            <a:pPr indent="0" lvl="0" marL="0" marR="0" rtl="0" algn="ctr">
              <a:spcBef>
                <a:spcPts val="0"/>
              </a:spcBef>
              <a:spcAft>
                <a:spcPts val="0"/>
              </a:spcAft>
              <a:buClr>
                <a:srgbClr val="5A7A7E"/>
              </a:buClr>
              <a:buSzPts val="800"/>
              <a:buFont typeface="Calibri"/>
              <a:buNone/>
            </a:pPr>
            <a:r>
              <a:rPr lang="en-US" sz="800">
                <a:solidFill>
                  <a:srgbClr val="5A7A7E"/>
                </a:solidFill>
                <a:latin typeface="Calibri"/>
                <a:ea typeface="Calibri"/>
                <a:cs typeface="Calibri"/>
                <a:sym typeface="Calibri"/>
              </a:rPr>
              <a:t>ChromaDB</a:t>
            </a:r>
            <a:endParaRPr sz="800">
              <a:solidFill>
                <a:srgbClr val="5A7A7E"/>
              </a:solidFill>
              <a:latin typeface="Calibri"/>
              <a:ea typeface="Calibri"/>
              <a:cs typeface="Calibri"/>
              <a:sym typeface="Calibri"/>
            </a:endParaRPr>
          </a:p>
        </p:txBody>
      </p:sp>
      <p:sp>
        <p:nvSpPr>
          <p:cNvPr id="95" name="Google Shape;95;g3cfa2e4f4a0_0_6"/>
          <p:cNvSpPr/>
          <p:nvPr/>
        </p:nvSpPr>
        <p:spPr>
          <a:xfrm>
            <a:off x="4721241" y="1752600"/>
            <a:ext cx="926700" cy="1820700"/>
          </a:xfrm>
          <a:prstGeom prst="rect">
            <a:avLst/>
          </a:prstGeom>
          <a:solidFill>
            <a:srgbClr val="FFFFFF"/>
          </a:solidFill>
          <a:ln cap="flat" cmpd="sng" w="17150">
            <a:solidFill>
              <a:srgbClr val="38761D"/>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g3cfa2e4f4a0_0_6"/>
          <p:cNvSpPr/>
          <p:nvPr/>
        </p:nvSpPr>
        <p:spPr>
          <a:xfrm>
            <a:off x="4721243" y="1752600"/>
            <a:ext cx="926700" cy="48000"/>
          </a:xfrm>
          <a:prstGeom prst="rect">
            <a:avLst/>
          </a:prstGeom>
          <a:solidFill>
            <a:srgbClr val="38761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g3cfa2e4f4a0_0_6"/>
          <p:cNvSpPr/>
          <p:nvPr/>
        </p:nvSpPr>
        <p:spPr>
          <a:xfrm>
            <a:off x="4803539"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Vector Search</a:t>
            </a:r>
            <a:endParaRPr b="0" i="0" sz="800" u="none" cap="none" strike="noStrike">
              <a:solidFill>
                <a:schemeClr val="dk1"/>
              </a:solidFill>
              <a:latin typeface="Calibri"/>
              <a:ea typeface="Calibri"/>
              <a:cs typeface="Calibri"/>
              <a:sym typeface="Calibri"/>
            </a:endParaRPr>
          </a:p>
        </p:txBody>
      </p:sp>
      <p:sp>
        <p:nvSpPr>
          <p:cNvPr id="98" name="Google Shape;98;g3cfa2e4f4a0_0_6"/>
          <p:cNvSpPr/>
          <p:nvPr/>
        </p:nvSpPr>
        <p:spPr>
          <a:xfrm>
            <a:off x="4803539"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Cosine similarity</a:t>
            </a:r>
            <a:endParaRPr b="0" i="0" sz="800" u="none" cap="none" strike="noStrike">
              <a:solidFill>
                <a:schemeClr val="dk1"/>
              </a:solidFill>
              <a:latin typeface="Calibri"/>
              <a:ea typeface="Calibri"/>
              <a:cs typeface="Calibri"/>
              <a:sym typeface="Calibri"/>
            </a:endParaRPr>
          </a:p>
        </p:txBody>
      </p:sp>
      <p:sp>
        <p:nvSpPr>
          <p:cNvPr id="99" name="Google Shape;99;g3cfa2e4f4a0_0_6"/>
          <p:cNvSpPr/>
          <p:nvPr/>
        </p:nvSpPr>
        <p:spPr>
          <a:xfrm>
            <a:off x="4803539"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top-10 candidates</a:t>
            </a:r>
            <a:endParaRPr b="0" i="0" sz="700" u="none" cap="none" strike="noStrike">
              <a:solidFill>
                <a:schemeClr val="dk1"/>
              </a:solidFill>
              <a:latin typeface="Calibri"/>
              <a:ea typeface="Calibri"/>
              <a:cs typeface="Calibri"/>
              <a:sym typeface="Calibri"/>
            </a:endParaRPr>
          </a:p>
        </p:txBody>
      </p:sp>
      <p:sp>
        <p:nvSpPr>
          <p:cNvPr id="100" name="Google Shape;100;g3cfa2e4f4a0_0_6"/>
          <p:cNvSpPr/>
          <p:nvPr/>
        </p:nvSpPr>
        <p:spPr>
          <a:xfrm>
            <a:off x="5798927" y="1752600"/>
            <a:ext cx="926700" cy="1820700"/>
          </a:xfrm>
          <a:prstGeom prst="rect">
            <a:avLst/>
          </a:prstGeom>
          <a:solidFill>
            <a:srgbClr val="FFFFFF"/>
          </a:solidFill>
          <a:ln cap="flat" cmpd="sng" w="17150">
            <a:solidFill>
              <a:srgbClr val="10B981"/>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g3cfa2e4f4a0_0_6"/>
          <p:cNvSpPr/>
          <p:nvPr/>
        </p:nvSpPr>
        <p:spPr>
          <a:xfrm>
            <a:off x="5798929" y="1752600"/>
            <a:ext cx="926700" cy="48000"/>
          </a:xfrm>
          <a:prstGeom prst="rect">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g3cfa2e4f4a0_0_6"/>
          <p:cNvSpPr/>
          <p:nvPr/>
        </p:nvSpPr>
        <p:spPr>
          <a:xfrm>
            <a:off x="5881225"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Re-ranking</a:t>
            </a:r>
            <a:endParaRPr b="0" i="0" sz="800" u="none" cap="none" strike="noStrike">
              <a:solidFill>
                <a:schemeClr val="dk1"/>
              </a:solidFill>
              <a:latin typeface="Calibri"/>
              <a:ea typeface="Calibri"/>
              <a:cs typeface="Calibri"/>
              <a:sym typeface="Calibri"/>
            </a:endParaRPr>
          </a:p>
        </p:txBody>
      </p:sp>
      <p:sp>
        <p:nvSpPr>
          <p:cNvPr id="103" name="Google Shape;103;g3cfa2e4f4a0_0_6"/>
          <p:cNvSpPr/>
          <p:nvPr/>
        </p:nvSpPr>
        <p:spPr>
          <a:xfrm>
            <a:off x="5881225"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Cross-encoder scores</a:t>
            </a:r>
            <a:endParaRPr b="0" i="0" sz="800" u="none" cap="none" strike="noStrike">
              <a:solidFill>
                <a:schemeClr val="dk1"/>
              </a:solidFill>
              <a:latin typeface="Calibri"/>
              <a:ea typeface="Calibri"/>
              <a:cs typeface="Calibri"/>
              <a:sym typeface="Calibri"/>
            </a:endParaRPr>
          </a:p>
        </p:txBody>
      </p:sp>
      <p:sp>
        <p:nvSpPr>
          <p:cNvPr id="104" name="Google Shape;104;g3cfa2e4f4a0_0_6"/>
          <p:cNvSpPr/>
          <p:nvPr/>
        </p:nvSpPr>
        <p:spPr>
          <a:xfrm>
            <a:off x="5881225"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top-10 → best 4</a:t>
            </a:r>
            <a:endParaRPr b="0" i="0" sz="700" u="none" cap="none" strike="noStrike">
              <a:solidFill>
                <a:schemeClr val="dk1"/>
              </a:solidFill>
              <a:latin typeface="Calibri"/>
              <a:ea typeface="Calibri"/>
              <a:cs typeface="Calibri"/>
              <a:sym typeface="Calibri"/>
            </a:endParaRPr>
          </a:p>
        </p:txBody>
      </p:sp>
      <p:sp>
        <p:nvSpPr>
          <p:cNvPr id="105" name="Google Shape;105;g3cfa2e4f4a0_0_6"/>
          <p:cNvSpPr/>
          <p:nvPr/>
        </p:nvSpPr>
        <p:spPr>
          <a:xfrm>
            <a:off x="6876613" y="1752600"/>
            <a:ext cx="926700" cy="1820700"/>
          </a:xfrm>
          <a:prstGeom prst="rect">
            <a:avLst/>
          </a:prstGeom>
          <a:solidFill>
            <a:srgbClr val="FFFFFF"/>
          </a:solidFill>
          <a:ln cap="flat" cmpd="sng" w="17150">
            <a:solidFill>
              <a:srgbClr val="6AA84F"/>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g3cfa2e4f4a0_0_6"/>
          <p:cNvSpPr/>
          <p:nvPr/>
        </p:nvSpPr>
        <p:spPr>
          <a:xfrm>
            <a:off x="6876614" y="1752600"/>
            <a:ext cx="926700" cy="48000"/>
          </a:xfrm>
          <a:prstGeom prst="rect">
            <a:avLst/>
          </a:prstGeom>
          <a:solidFill>
            <a:srgbClr val="6AA84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7" name="Google Shape;107;g3cfa2e4f4a0_0_6"/>
          <p:cNvSpPr/>
          <p:nvPr/>
        </p:nvSpPr>
        <p:spPr>
          <a:xfrm>
            <a:off x="6958910"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GPT-4o-mini</a:t>
            </a:r>
            <a:endParaRPr b="0" i="0" sz="800" u="none" cap="none" strike="noStrike">
              <a:solidFill>
                <a:schemeClr val="dk1"/>
              </a:solidFill>
              <a:latin typeface="Calibri"/>
              <a:ea typeface="Calibri"/>
              <a:cs typeface="Calibri"/>
              <a:sym typeface="Calibri"/>
            </a:endParaRPr>
          </a:p>
        </p:txBody>
      </p:sp>
      <p:sp>
        <p:nvSpPr>
          <p:cNvPr id="108" name="Google Shape;108;g3cfa2e4f4a0_0_6"/>
          <p:cNvSpPr/>
          <p:nvPr/>
        </p:nvSpPr>
        <p:spPr>
          <a:xfrm>
            <a:off x="6958910"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Generates answer</a:t>
            </a:r>
            <a:endParaRPr b="0" i="0" sz="800" u="none" cap="none" strike="noStrike">
              <a:solidFill>
                <a:schemeClr val="dk1"/>
              </a:solidFill>
              <a:latin typeface="Calibri"/>
              <a:ea typeface="Calibri"/>
              <a:cs typeface="Calibri"/>
              <a:sym typeface="Calibri"/>
            </a:endParaRPr>
          </a:p>
        </p:txBody>
      </p:sp>
      <p:sp>
        <p:nvSpPr>
          <p:cNvPr id="109" name="Google Shape;109;g3cfa2e4f4a0_0_6"/>
          <p:cNvSpPr/>
          <p:nvPr/>
        </p:nvSpPr>
        <p:spPr>
          <a:xfrm>
            <a:off x="6958910"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top 4 chunks + citations</a:t>
            </a:r>
            <a:endParaRPr b="0" i="0" sz="700" u="none" cap="none" strike="noStrike">
              <a:solidFill>
                <a:schemeClr val="dk1"/>
              </a:solidFill>
              <a:latin typeface="Calibri"/>
              <a:ea typeface="Calibri"/>
              <a:cs typeface="Calibri"/>
              <a:sym typeface="Calibri"/>
            </a:endParaRPr>
          </a:p>
        </p:txBody>
      </p:sp>
      <p:sp>
        <p:nvSpPr>
          <p:cNvPr id="110" name="Google Shape;110;g3cfa2e4f4a0_0_6"/>
          <p:cNvSpPr/>
          <p:nvPr/>
        </p:nvSpPr>
        <p:spPr>
          <a:xfrm>
            <a:off x="7954300" y="1752600"/>
            <a:ext cx="926700" cy="1820700"/>
          </a:xfrm>
          <a:prstGeom prst="rect">
            <a:avLst/>
          </a:prstGeom>
          <a:solidFill>
            <a:srgbClr val="FFFFFF"/>
          </a:solidFill>
          <a:ln cap="flat" cmpd="sng" w="17150">
            <a:solidFill>
              <a:srgbClr val="0891B2"/>
            </a:solidFill>
            <a:prstDash val="solid"/>
            <a:round/>
            <a:headEnd len="sm" w="sm" type="none"/>
            <a:tailEnd len="sm" w="sm" type="none"/>
          </a:ln>
          <a:effectLst>
            <a:outerShdw blurRad="47625" rotWithShape="0" algn="bl" dir="8100000" dist="19050">
              <a:srgbClr val="000000">
                <a:alpha val="7840"/>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1" name="Google Shape;111;g3cfa2e4f4a0_0_6"/>
          <p:cNvSpPr/>
          <p:nvPr/>
        </p:nvSpPr>
        <p:spPr>
          <a:xfrm>
            <a:off x="7954301" y="1752600"/>
            <a:ext cx="926700" cy="48000"/>
          </a:xfrm>
          <a:prstGeom prst="rect">
            <a:avLst/>
          </a:prstGeom>
          <a:solidFill>
            <a:srgbClr val="0891B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g3cfa2e4f4a0_0_6"/>
          <p:cNvSpPr/>
          <p:nvPr/>
        </p:nvSpPr>
        <p:spPr>
          <a:xfrm>
            <a:off x="8036597" y="1848612"/>
            <a:ext cx="762300" cy="521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3A5F"/>
              </a:buClr>
              <a:buSzPts val="800"/>
              <a:buFont typeface="Trebuchet MS"/>
              <a:buNone/>
            </a:pPr>
            <a:r>
              <a:rPr b="1" i="0" lang="en-US" sz="800" u="none" cap="none" strike="noStrike">
                <a:solidFill>
                  <a:srgbClr val="1E3A5F"/>
                </a:solidFill>
                <a:latin typeface="Trebuchet MS"/>
                <a:ea typeface="Trebuchet MS"/>
                <a:cs typeface="Trebuchet MS"/>
                <a:sym typeface="Trebuchet MS"/>
              </a:rPr>
              <a:t>Chat UI</a:t>
            </a:r>
            <a:endParaRPr b="0" i="0" sz="800" u="none" cap="none" strike="noStrike">
              <a:solidFill>
                <a:schemeClr val="dk1"/>
              </a:solidFill>
              <a:latin typeface="Calibri"/>
              <a:ea typeface="Calibri"/>
              <a:cs typeface="Calibri"/>
              <a:sym typeface="Calibri"/>
            </a:endParaRPr>
          </a:p>
        </p:txBody>
      </p:sp>
      <p:sp>
        <p:nvSpPr>
          <p:cNvPr id="113" name="Google Shape;113;g3cfa2e4f4a0_0_6"/>
          <p:cNvSpPr/>
          <p:nvPr/>
        </p:nvSpPr>
        <p:spPr>
          <a:xfrm>
            <a:off x="8036597" y="2273808"/>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Grounded answer</a:t>
            </a:r>
            <a:endParaRPr b="0" i="0" sz="800" u="none" cap="none" strike="noStrike">
              <a:solidFill>
                <a:schemeClr val="dk1"/>
              </a:solidFill>
              <a:latin typeface="Calibri"/>
              <a:ea typeface="Calibri"/>
              <a:cs typeface="Calibri"/>
              <a:sym typeface="Calibri"/>
            </a:endParaRPr>
          </a:p>
        </p:txBody>
      </p:sp>
      <p:sp>
        <p:nvSpPr>
          <p:cNvPr id="114" name="Google Shape;114;g3cfa2e4f4a0_0_6"/>
          <p:cNvSpPr/>
          <p:nvPr/>
        </p:nvSpPr>
        <p:spPr>
          <a:xfrm>
            <a:off x="8036597" y="2534412"/>
            <a:ext cx="762300" cy="2607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A7A7E"/>
              </a:buClr>
              <a:buSzPts val="700"/>
              <a:buFont typeface="Calibri"/>
              <a:buNone/>
            </a:pPr>
            <a:r>
              <a:rPr b="0" i="1" lang="en-US" sz="700" u="none" cap="none" strike="noStrike">
                <a:solidFill>
                  <a:srgbClr val="5A7A7E"/>
                </a:solidFill>
                <a:latin typeface="Calibri"/>
                <a:ea typeface="Calibri"/>
                <a:cs typeface="Calibri"/>
                <a:sym typeface="Calibri"/>
              </a:rPr>
              <a:t>on the website</a:t>
            </a:r>
            <a:endParaRPr b="0" i="0" sz="700" u="none" cap="none" strike="noStrike">
              <a:solidFill>
                <a:schemeClr val="dk1"/>
              </a:solidFill>
              <a:latin typeface="Calibri"/>
              <a:ea typeface="Calibri"/>
              <a:cs typeface="Calibri"/>
              <a:sym typeface="Calibri"/>
            </a:endParaRPr>
          </a:p>
        </p:txBody>
      </p:sp>
      <p:sp>
        <p:nvSpPr>
          <p:cNvPr id="115" name="Google Shape;115;g3cfa2e4f4a0_0_6"/>
          <p:cNvSpPr/>
          <p:nvPr/>
        </p:nvSpPr>
        <p:spPr>
          <a:xfrm>
            <a:off x="240030" y="3735324"/>
            <a:ext cx="3082200" cy="260700"/>
          </a:xfrm>
          <a:prstGeom prst="roundRect">
            <a:avLst>
              <a:gd fmla="val 21053" name="adj"/>
            </a:avLst>
          </a:prstGeom>
          <a:solidFill>
            <a:srgbClr val="0B5E6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g3cfa2e4f4a0_0_6"/>
          <p:cNvSpPr/>
          <p:nvPr/>
        </p:nvSpPr>
        <p:spPr>
          <a:xfrm>
            <a:off x="240030" y="3735324"/>
            <a:ext cx="30822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① INDEXING PHASE  —  runs once when the system is deployed</a:t>
            </a:r>
            <a:endParaRPr b="0" i="0" sz="800" u="none" cap="none" strike="noStrike">
              <a:solidFill>
                <a:schemeClr val="dk1"/>
              </a:solidFill>
              <a:latin typeface="Calibri"/>
              <a:ea typeface="Calibri"/>
              <a:cs typeface="Calibri"/>
              <a:sym typeface="Calibri"/>
            </a:endParaRPr>
          </a:p>
        </p:txBody>
      </p:sp>
      <p:sp>
        <p:nvSpPr>
          <p:cNvPr id="117" name="Google Shape;117;g3cfa2e4f4a0_0_6"/>
          <p:cNvSpPr/>
          <p:nvPr/>
        </p:nvSpPr>
        <p:spPr>
          <a:xfrm>
            <a:off x="3473087" y="3735324"/>
            <a:ext cx="1097400" cy="260700"/>
          </a:xfrm>
          <a:prstGeom prst="roundRect">
            <a:avLst>
              <a:gd fmla="val 21053" name="adj"/>
            </a:avLst>
          </a:prstGeom>
          <a:solidFill>
            <a:srgbClr val="1E3A5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g3cfa2e4f4a0_0_6"/>
          <p:cNvSpPr/>
          <p:nvPr/>
        </p:nvSpPr>
        <p:spPr>
          <a:xfrm>
            <a:off x="3473087" y="3735324"/>
            <a:ext cx="10974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ABBDD"/>
              </a:buClr>
              <a:buSzPts val="800"/>
              <a:buFont typeface="Calibri"/>
              <a:buNone/>
            </a:pPr>
            <a:r>
              <a:rPr b="1" i="0" lang="en-US" sz="800" u="none" cap="none" strike="noStrike">
                <a:solidFill>
                  <a:schemeClr val="lt1"/>
                </a:solidFill>
                <a:latin typeface="Calibri"/>
                <a:ea typeface="Calibri"/>
                <a:cs typeface="Calibri"/>
                <a:sym typeface="Calibri"/>
              </a:rPr>
              <a:t>Vector DB</a:t>
            </a:r>
            <a:endParaRPr b="0" i="0" sz="800" u="none" cap="none" strike="noStrike">
              <a:solidFill>
                <a:schemeClr val="lt1"/>
              </a:solidFill>
              <a:latin typeface="Calibri"/>
              <a:ea typeface="Calibri"/>
              <a:cs typeface="Calibri"/>
              <a:sym typeface="Calibri"/>
            </a:endParaRPr>
          </a:p>
        </p:txBody>
      </p:sp>
      <p:sp>
        <p:nvSpPr>
          <p:cNvPr id="119" name="Google Shape;119;g3cfa2e4f4a0_0_6"/>
          <p:cNvSpPr/>
          <p:nvPr/>
        </p:nvSpPr>
        <p:spPr>
          <a:xfrm>
            <a:off x="4721243" y="3735324"/>
            <a:ext cx="4159800" cy="260700"/>
          </a:xfrm>
          <a:prstGeom prst="roundRect">
            <a:avLst>
              <a:gd fmla="val 21053" name="adj"/>
            </a:avLst>
          </a:prstGeom>
          <a:solidFill>
            <a:srgbClr val="10B9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g3cfa2e4f4a0_0_6"/>
          <p:cNvSpPr/>
          <p:nvPr/>
        </p:nvSpPr>
        <p:spPr>
          <a:xfrm>
            <a:off x="4721243" y="3735324"/>
            <a:ext cx="4159800" cy="26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② QUERY FLOW  —  every time a student asks a question on the website</a:t>
            </a:r>
            <a:endParaRPr b="0" i="0" sz="800" u="none" cap="none" strike="noStrike">
              <a:solidFill>
                <a:schemeClr val="dk1"/>
              </a:solidFill>
              <a:latin typeface="Calibri"/>
              <a:ea typeface="Calibri"/>
              <a:cs typeface="Calibri"/>
              <a:sym typeface="Calibri"/>
            </a:endParaRPr>
          </a:p>
        </p:txBody>
      </p:sp>
      <p:sp>
        <p:nvSpPr>
          <p:cNvPr id="121" name="Google Shape;121;g3cfa2e4f4a0_0_6"/>
          <p:cNvSpPr/>
          <p:nvPr/>
        </p:nvSpPr>
        <p:spPr>
          <a:xfrm>
            <a:off x="0" y="5006340"/>
            <a:ext cx="9121200" cy="137400"/>
          </a:xfrm>
          <a:prstGeom prst="rect">
            <a:avLst/>
          </a:prstGeom>
          <a:solidFill>
            <a:srgbClr val="0B5E6E"/>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g3cfa2e4f4a0_0_6"/>
          <p:cNvSpPr/>
          <p:nvPr/>
        </p:nvSpPr>
        <p:spPr>
          <a:xfrm>
            <a:off x="411480" y="475488"/>
            <a:ext cx="64008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000"/>
              <a:buFont typeface="Trebuchet MS"/>
              <a:buNone/>
            </a:pPr>
            <a:r>
              <a:rPr b="1" i="0" lang="en-US" sz="3000" u="none" cap="none" strike="noStrike">
                <a:solidFill>
                  <a:srgbClr val="1E3A5F"/>
                </a:solidFill>
                <a:latin typeface="Trebuchet MS"/>
                <a:ea typeface="Trebuchet MS"/>
                <a:cs typeface="Trebuchet MS"/>
                <a:sym typeface="Trebuchet MS"/>
              </a:rPr>
              <a:t>End-to-End RAG System</a:t>
            </a:r>
            <a:endParaRPr b="0" i="0" sz="3000" u="none" cap="none" strike="noStrike">
              <a:solidFill>
                <a:schemeClr val="dk1"/>
              </a:solidFill>
              <a:latin typeface="Calibri"/>
              <a:ea typeface="Calibri"/>
              <a:cs typeface="Calibri"/>
              <a:sym typeface="Calibri"/>
            </a:endParaRPr>
          </a:p>
        </p:txBody>
      </p:sp>
      <p:sp>
        <p:nvSpPr>
          <p:cNvPr id="123" name="Google Shape;123;g3cfa2e4f4a0_0_6"/>
          <p:cNvSpPr/>
          <p:nvPr/>
        </p:nvSpPr>
        <p:spPr>
          <a:xfrm>
            <a:off x="411480" y="164592"/>
            <a:ext cx="1371600" cy="246900"/>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cfa2e4f4a0_0_6"/>
          <p:cNvSpPr/>
          <p:nvPr/>
        </p:nvSpPr>
        <p:spPr>
          <a:xfrm>
            <a:off x="411480" y="164592"/>
            <a:ext cx="137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02  PIPELINE</a:t>
            </a:r>
            <a:endParaRPr b="0" i="0" sz="800" u="none" cap="none" strike="noStrike">
              <a:solidFill>
                <a:schemeClr val="dk1"/>
              </a:solidFill>
              <a:latin typeface="Calibri"/>
              <a:ea typeface="Calibri"/>
              <a:cs typeface="Calibri"/>
              <a:sym typeface="Calibri"/>
            </a:endParaRPr>
          </a:p>
        </p:txBody>
      </p:sp>
      <p:cxnSp>
        <p:nvCxnSpPr>
          <p:cNvPr id="125" name="Google Shape;125;g3cfa2e4f4a0_0_6"/>
          <p:cNvCxnSpPr/>
          <p:nvPr/>
        </p:nvCxnSpPr>
        <p:spPr>
          <a:xfrm>
            <a:off x="1165311" y="2662950"/>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26" name="Google Shape;126;g3cfa2e4f4a0_0_6"/>
          <p:cNvCxnSpPr/>
          <p:nvPr/>
        </p:nvCxnSpPr>
        <p:spPr>
          <a:xfrm>
            <a:off x="2268746" y="2649762"/>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27" name="Google Shape;127;g3cfa2e4f4a0_0_6"/>
          <p:cNvCxnSpPr/>
          <p:nvPr/>
        </p:nvCxnSpPr>
        <p:spPr>
          <a:xfrm>
            <a:off x="3335546" y="2649762"/>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28" name="Google Shape;128;g3cfa2e4f4a0_0_6"/>
          <p:cNvCxnSpPr/>
          <p:nvPr/>
        </p:nvCxnSpPr>
        <p:spPr>
          <a:xfrm>
            <a:off x="4583455" y="2649762"/>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29" name="Google Shape;129;g3cfa2e4f4a0_0_6"/>
          <p:cNvCxnSpPr/>
          <p:nvPr/>
        </p:nvCxnSpPr>
        <p:spPr>
          <a:xfrm>
            <a:off x="5650255" y="2649762"/>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30" name="Google Shape;130;g3cfa2e4f4a0_0_6"/>
          <p:cNvCxnSpPr/>
          <p:nvPr/>
        </p:nvCxnSpPr>
        <p:spPr>
          <a:xfrm>
            <a:off x="6750191" y="2649762"/>
            <a:ext cx="82200" cy="1800"/>
          </a:xfrm>
          <a:prstGeom prst="straightConnector1">
            <a:avLst/>
          </a:prstGeom>
          <a:noFill/>
          <a:ln cap="flat" cmpd="sng" w="28575">
            <a:solidFill>
              <a:srgbClr val="0A2A35"/>
            </a:solidFill>
            <a:prstDash val="solid"/>
            <a:round/>
            <a:headEnd len="med" w="med" type="none"/>
            <a:tailEnd len="med" w="med" type="stealth"/>
          </a:ln>
        </p:spPr>
      </p:cxnSp>
      <p:cxnSp>
        <p:nvCxnSpPr>
          <p:cNvPr id="131" name="Google Shape;131;g3cfa2e4f4a0_0_6"/>
          <p:cNvCxnSpPr/>
          <p:nvPr/>
        </p:nvCxnSpPr>
        <p:spPr>
          <a:xfrm>
            <a:off x="7816991" y="2649762"/>
            <a:ext cx="82200" cy="1800"/>
          </a:xfrm>
          <a:prstGeom prst="straightConnector1">
            <a:avLst/>
          </a:prstGeom>
          <a:noFill/>
          <a:ln cap="flat" cmpd="sng" w="28575">
            <a:solidFill>
              <a:srgbClr val="0A2A35"/>
            </a:solidFill>
            <a:prstDash val="solid"/>
            <a:round/>
            <a:headEnd len="med" w="med" type="none"/>
            <a:tailEnd len="med" w="med" type="stealth"/>
          </a:ln>
        </p:spPr>
      </p:cxnSp>
      <p:sp>
        <p:nvSpPr>
          <p:cNvPr id="132" name="Google Shape;132;g3cfa2e4f4a0_0_6"/>
          <p:cNvSpPr/>
          <p:nvPr/>
        </p:nvSpPr>
        <p:spPr>
          <a:xfrm>
            <a:off x="365760" y="5001768"/>
            <a:ext cx="6400800" cy="14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System Architecture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37" name="Shape 137"/>
        <p:cNvGrpSpPr/>
        <p:nvPr/>
      </p:nvGrpSpPr>
      <p:grpSpPr>
        <a:xfrm>
          <a:off x="0" y="0"/>
          <a:ext cx="0" cy="0"/>
          <a:chOff x="0" y="0"/>
          <a:chExt cx="0" cy="0"/>
        </a:xfrm>
      </p:grpSpPr>
      <p:sp>
        <p:nvSpPr>
          <p:cNvPr id="138" name="Google Shape;138;p4"/>
          <p:cNvSpPr/>
          <p:nvPr/>
        </p:nvSpPr>
        <p:spPr>
          <a:xfrm>
            <a:off x="411480" y="164592"/>
            <a:ext cx="1371600" cy="246888"/>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411480" y="164592"/>
            <a:ext cx="137160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03  RETRIEVAL</a:t>
            </a:r>
            <a:endParaRPr b="0" i="0" sz="800" u="none" cap="none" strike="noStrike">
              <a:solidFill>
                <a:schemeClr val="dk1"/>
              </a:solidFill>
              <a:latin typeface="Calibri"/>
              <a:ea typeface="Calibri"/>
              <a:cs typeface="Calibri"/>
              <a:sym typeface="Calibri"/>
            </a:endParaRPr>
          </a:p>
        </p:txBody>
      </p:sp>
      <p:sp>
        <p:nvSpPr>
          <p:cNvPr id="140" name="Google Shape;140;p4"/>
          <p:cNvSpPr/>
          <p:nvPr/>
        </p:nvSpPr>
        <p:spPr>
          <a:xfrm>
            <a:off x="411480" y="475488"/>
            <a:ext cx="83210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000"/>
              <a:buFont typeface="Trebuchet MS"/>
              <a:buNone/>
            </a:pPr>
            <a:r>
              <a:rPr b="1" i="0" lang="en-US" sz="3000" u="none" cap="none" strike="noStrike">
                <a:solidFill>
                  <a:srgbClr val="1E3A5F"/>
                </a:solidFill>
                <a:latin typeface="Trebuchet MS"/>
                <a:ea typeface="Trebuchet MS"/>
                <a:cs typeface="Trebuchet MS"/>
                <a:sym typeface="Trebuchet MS"/>
              </a:rPr>
              <a:t>Smart Retrieval:</a:t>
            </a:r>
            <a:r>
              <a:rPr lang="en-US" sz="3000">
                <a:solidFill>
                  <a:schemeClr val="dk1"/>
                </a:solidFill>
                <a:latin typeface="Calibri"/>
                <a:ea typeface="Calibri"/>
                <a:cs typeface="Calibri"/>
                <a:sym typeface="Calibri"/>
              </a:rPr>
              <a:t> </a:t>
            </a:r>
            <a:r>
              <a:rPr b="1" i="0" lang="en-US" sz="3000" u="none" cap="none" strike="noStrike">
                <a:solidFill>
                  <a:srgbClr val="1E3A5F"/>
                </a:solidFill>
                <a:latin typeface="Trebuchet MS"/>
                <a:ea typeface="Trebuchet MS"/>
                <a:cs typeface="Trebuchet MS"/>
                <a:sym typeface="Trebuchet MS"/>
              </a:rPr>
              <a:t>Beyond Keyword Search</a:t>
            </a:r>
            <a:endParaRPr b="0" i="0" sz="3000" u="none" cap="none" strike="noStrike">
              <a:solidFill>
                <a:schemeClr val="dk1"/>
              </a:solidFill>
              <a:latin typeface="Calibri"/>
              <a:ea typeface="Calibri"/>
              <a:cs typeface="Calibri"/>
              <a:sym typeface="Calibri"/>
            </a:endParaRPr>
          </a:p>
        </p:txBody>
      </p:sp>
      <p:sp>
        <p:nvSpPr>
          <p:cNvPr id="141" name="Google Shape;141;p4"/>
          <p:cNvSpPr/>
          <p:nvPr/>
        </p:nvSpPr>
        <p:spPr>
          <a:xfrm>
            <a:off x="411480" y="1277112"/>
            <a:ext cx="83211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250"/>
              <a:buFont typeface="Calibri"/>
              <a:buNone/>
            </a:pPr>
            <a:r>
              <a:rPr b="0" i="1" lang="en-US" sz="1250" u="none" cap="none" strike="noStrike">
                <a:solidFill>
                  <a:srgbClr val="5A7A7E"/>
                </a:solidFill>
                <a:latin typeface="Calibri"/>
                <a:ea typeface="Calibri"/>
                <a:cs typeface="Calibri"/>
                <a:sym typeface="Calibri"/>
              </a:rPr>
              <a:t>Two complementary signals</a:t>
            </a:r>
            <a:r>
              <a:rPr i="1" lang="en-US" sz="1250">
                <a:solidFill>
                  <a:srgbClr val="5A7A7E"/>
                </a:solidFill>
                <a:latin typeface="Calibri"/>
                <a:ea typeface="Calibri"/>
                <a:cs typeface="Calibri"/>
                <a:sym typeface="Calibri"/>
              </a:rPr>
              <a:t>: </a:t>
            </a:r>
            <a:r>
              <a:rPr b="0" i="1" lang="en-US" sz="1250" u="none" cap="none" strike="noStrike">
                <a:solidFill>
                  <a:srgbClr val="5A7A7E"/>
                </a:solidFill>
                <a:latin typeface="Calibri"/>
                <a:ea typeface="Calibri"/>
                <a:cs typeface="Calibri"/>
                <a:sym typeface="Calibri"/>
              </a:rPr>
              <a:t>semantic meaning AND document metadata combined to surface the most relevant course chunks.</a:t>
            </a:r>
            <a:endParaRPr b="0" i="0" sz="1250" u="none" cap="none" strike="noStrike">
              <a:solidFill>
                <a:schemeClr val="dk1"/>
              </a:solidFill>
              <a:latin typeface="Calibri"/>
              <a:ea typeface="Calibri"/>
              <a:cs typeface="Calibri"/>
              <a:sym typeface="Calibri"/>
            </a:endParaRPr>
          </a:p>
        </p:txBody>
      </p:sp>
      <p:sp>
        <p:nvSpPr>
          <p:cNvPr id="142" name="Google Shape;142;p4"/>
          <p:cNvSpPr/>
          <p:nvPr/>
        </p:nvSpPr>
        <p:spPr>
          <a:xfrm>
            <a:off x="411480" y="1828800"/>
            <a:ext cx="4023360" cy="2926080"/>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
          <p:cNvSpPr/>
          <p:nvPr/>
        </p:nvSpPr>
        <p:spPr>
          <a:xfrm>
            <a:off x="411480" y="1828800"/>
            <a:ext cx="4023360" cy="384048"/>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p:nvPr/>
        </p:nvSpPr>
        <p:spPr>
          <a:xfrm>
            <a:off x="548640" y="182880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  Semantic Similarity</a:t>
            </a:r>
            <a:endParaRPr b="0" i="0" sz="1400" u="none" cap="none" strike="noStrike">
              <a:solidFill>
                <a:schemeClr val="dk1"/>
              </a:solidFill>
              <a:latin typeface="Calibri"/>
              <a:ea typeface="Calibri"/>
              <a:cs typeface="Calibri"/>
              <a:sym typeface="Calibri"/>
            </a:endParaRPr>
          </a:p>
        </p:txBody>
      </p:sp>
      <p:sp>
        <p:nvSpPr>
          <p:cNvPr id="145" name="Google Shape;145;p4"/>
          <p:cNvSpPr/>
          <p:nvPr/>
        </p:nvSpPr>
        <p:spPr>
          <a:xfrm>
            <a:off x="548640" y="2304288"/>
            <a:ext cx="374904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Query embedding compared via cosine similarity to all indexed chunks:</a:t>
            </a:r>
            <a:endParaRPr b="0" i="0" sz="1100" u="none" cap="none" strike="noStrike">
              <a:solidFill>
                <a:schemeClr val="dk1"/>
              </a:solidFill>
              <a:latin typeface="Calibri"/>
              <a:ea typeface="Calibri"/>
              <a:cs typeface="Calibri"/>
              <a:sym typeface="Calibri"/>
            </a:endParaRPr>
          </a:p>
        </p:txBody>
      </p:sp>
      <p:sp>
        <p:nvSpPr>
          <p:cNvPr id="146" name="Google Shape;146;p4"/>
          <p:cNvSpPr/>
          <p:nvPr/>
        </p:nvSpPr>
        <p:spPr>
          <a:xfrm>
            <a:off x="548640" y="2761488"/>
            <a:ext cx="2691994" cy="21945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548640" y="2761488"/>
            <a:ext cx="2926080" cy="219456"/>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4"/>
          <p:cNvSpPr/>
          <p:nvPr/>
        </p:nvSpPr>
        <p:spPr>
          <a:xfrm>
            <a:off x="548640" y="2761488"/>
            <a:ext cx="2691994" cy="21945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4"/>
          <p:cNvSpPr/>
          <p:nvPr/>
        </p:nvSpPr>
        <p:spPr>
          <a:xfrm>
            <a:off x="594360" y="2761488"/>
            <a:ext cx="21945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900"/>
              <a:buFont typeface="Calibri"/>
              <a:buNone/>
            </a:pPr>
            <a:r>
              <a:rPr b="0" i="0" lang="en-US" sz="900" u="none" cap="none" strike="noStrike">
                <a:solidFill>
                  <a:srgbClr val="1E3A5F"/>
                </a:solidFill>
                <a:latin typeface="Calibri"/>
                <a:ea typeface="Calibri"/>
                <a:cs typeface="Calibri"/>
                <a:sym typeface="Calibri"/>
              </a:rPr>
              <a:t>lecture_03_kmeans.pdf</a:t>
            </a:r>
            <a:endParaRPr b="0" i="0" sz="900" u="none" cap="none" strike="noStrike">
              <a:solidFill>
                <a:schemeClr val="dk1"/>
              </a:solidFill>
              <a:latin typeface="Calibri"/>
              <a:ea typeface="Calibri"/>
              <a:cs typeface="Calibri"/>
              <a:sym typeface="Calibri"/>
            </a:endParaRPr>
          </a:p>
        </p:txBody>
      </p:sp>
      <p:sp>
        <p:nvSpPr>
          <p:cNvPr id="150" name="Google Shape;150;p4"/>
          <p:cNvSpPr/>
          <p:nvPr/>
        </p:nvSpPr>
        <p:spPr>
          <a:xfrm>
            <a:off x="3429000" y="2761488"/>
            <a:ext cx="4572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0B981"/>
              </a:buClr>
              <a:buSzPts val="900"/>
              <a:buFont typeface="Calibri"/>
              <a:buNone/>
            </a:pPr>
            <a:r>
              <a:rPr b="1" i="0" lang="en-US" sz="900" u="none" cap="none" strike="noStrike">
                <a:solidFill>
                  <a:srgbClr val="10B981"/>
                </a:solidFill>
                <a:latin typeface="Calibri"/>
                <a:ea typeface="Calibri"/>
                <a:cs typeface="Calibri"/>
                <a:sym typeface="Calibri"/>
              </a:rPr>
              <a:t>92%</a:t>
            </a:r>
            <a:endParaRPr b="0" i="0" sz="900" u="none" cap="none" strike="noStrike">
              <a:solidFill>
                <a:schemeClr val="dk1"/>
              </a:solidFill>
              <a:latin typeface="Calibri"/>
              <a:ea typeface="Calibri"/>
              <a:cs typeface="Calibri"/>
              <a:sym typeface="Calibri"/>
            </a:endParaRPr>
          </a:p>
        </p:txBody>
      </p:sp>
      <p:sp>
        <p:nvSpPr>
          <p:cNvPr id="151" name="Google Shape;151;p4"/>
          <p:cNvSpPr/>
          <p:nvPr/>
        </p:nvSpPr>
        <p:spPr>
          <a:xfrm>
            <a:off x="548640" y="3145536"/>
            <a:ext cx="2487168" cy="21945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4"/>
          <p:cNvSpPr/>
          <p:nvPr/>
        </p:nvSpPr>
        <p:spPr>
          <a:xfrm>
            <a:off x="548640" y="3145536"/>
            <a:ext cx="2926080" cy="219456"/>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548640" y="3145536"/>
            <a:ext cx="2487168" cy="21945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4"/>
          <p:cNvSpPr/>
          <p:nvPr/>
        </p:nvSpPr>
        <p:spPr>
          <a:xfrm>
            <a:off x="594360" y="3145536"/>
            <a:ext cx="21945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900"/>
              <a:buFont typeface="Calibri"/>
              <a:buNone/>
            </a:pPr>
            <a:r>
              <a:rPr b="0" i="0" lang="en-US" sz="900" u="none" cap="none" strike="noStrike">
                <a:solidFill>
                  <a:srgbClr val="1E3A5F"/>
                </a:solidFill>
                <a:latin typeface="Calibri"/>
                <a:ea typeface="Calibri"/>
                <a:cs typeface="Calibri"/>
                <a:sym typeface="Calibri"/>
              </a:rPr>
              <a:t>R_demo_clustering.R</a:t>
            </a:r>
            <a:endParaRPr b="0" i="0" sz="900" u="none" cap="none" strike="noStrike">
              <a:solidFill>
                <a:schemeClr val="dk1"/>
              </a:solidFill>
              <a:latin typeface="Calibri"/>
              <a:ea typeface="Calibri"/>
              <a:cs typeface="Calibri"/>
              <a:sym typeface="Calibri"/>
            </a:endParaRPr>
          </a:p>
        </p:txBody>
      </p:sp>
      <p:sp>
        <p:nvSpPr>
          <p:cNvPr id="155" name="Google Shape;155;p4"/>
          <p:cNvSpPr/>
          <p:nvPr/>
        </p:nvSpPr>
        <p:spPr>
          <a:xfrm>
            <a:off x="3429000" y="3145536"/>
            <a:ext cx="4572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10B981"/>
              </a:buClr>
              <a:buSzPts val="900"/>
              <a:buFont typeface="Calibri"/>
              <a:buNone/>
            </a:pPr>
            <a:r>
              <a:rPr b="1" i="0" lang="en-US" sz="900" u="none" cap="none" strike="noStrike">
                <a:solidFill>
                  <a:srgbClr val="10B981"/>
                </a:solidFill>
                <a:latin typeface="Calibri"/>
                <a:ea typeface="Calibri"/>
                <a:cs typeface="Calibri"/>
                <a:sym typeface="Calibri"/>
              </a:rPr>
              <a:t>85%</a:t>
            </a:r>
            <a:endParaRPr b="0" i="0" sz="900" u="none" cap="none" strike="noStrike">
              <a:solidFill>
                <a:schemeClr val="dk1"/>
              </a:solidFill>
              <a:latin typeface="Calibri"/>
              <a:ea typeface="Calibri"/>
              <a:cs typeface="Calibri"/>
              <a:sym typeface="Calibri"/>
            </a:endParaRPr>
          </a:p>
        </p:txBody>
      </p:sp>
      <p:sp>
        <p:nvSpPr>
          <p:cNvPr id="156" name="Google Shape;156;p4"/>
          <p:cNvSpPr/>
          <p:nvPr/>
        </p:nvSpPr>
        <p:spPr>
          <a:xfrm>
            <a:off x="548640" y="3529584"/>
            <a:ext cx="2282342" cy="219456"/>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
          <p:cNvSpPr/>
          <p:nvPr/>
        </p:nvSpPr>
        <p:spPr>
          <a:xfrm>
            <a:off x="548640" y="3529584"/>
            <a:ext cx="2926080" cy="219456"/>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4"/>
          <p:cNvSpPr/>
          <p:nvPr/>
        </p:nvSpPr>
        <p:spPr>
          <a:xfrm>
            <a:off x="548640" y="3529584"/>
            <a:ext cx="2282342" cy="219456"/>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594360" y="3529584"/>
            <a:ext cx="21945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900"/>
              <a:buFont typeface="Calibri"/>
              <a:buNone/>
            </a:pPr>
            <a:r>
              <a:rPr b="0" i="0" lang="en-US" sz="900" u="none" cap="none" strike="noStrike">
                <a:solidFill>
                  <a:schemeClr val="lt1"/>
                </a:solidFill>
                <a:latin typeface="Calibri"/>
                <a:ea typeface="Calibri"/>
                <a:cs typeface="Calibri"/>
                <a:sym typeface="Calibri"/>
              </a:rPr>
              <a:t>pca_notes.pdf</a:t>
            </a:r>
            <a:endParaRPr b="0" i="0" sz="900" u="none" cap="none" strike="noStrike">
              <a:solidFill>
                <a:schemeClr val="lt1"/>
              </a:solidFill>
              <a:latin typeface="Calibri"/>
              <a:ea typeface="Calibri"/>
              <a:cs typeface="Calibri"/>
              <a:sym typeface="Calibri"/>
            </a:endParaRPr>
          </a:p>
        </p:txBody>
      </p:sp>
      <p:sp>
        <p:nvSpPr>
          <p:cNvPr id="160" name="Google Shape;160;p4"/>
          <p:cNvSpPr/>
          <p:nvPr/>
        </p:nvSpPr>
        <p:spPr>
          <a:xfrm>
            <a:off x="3429000" y="3529584"/>
            <a:ext cx="4572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0B5E6E"/>
              </a:buClr>
              <a:buSzPts val="900"/>
              <a:buFont typeface="Calibri"/>
              <a:buNone/>
            </a:pPr>
            <a:r>
              <a:rPr b="1" i="0" lang="en-US" sz="900" u="none" cap="none" strike="noStrike">
                <a:solidFill>
                  <a:srgbClr val="0B5E6E"/>
                </a:solidFill>
                <a:latin typeface="Calibri"/>
                <a:ea typeface="Calibri"/>
                <a:cs typeface="Calibri"/>
                <a:sym typeface="Calibri"/>
              </a:rPr>
              <a:t>78%</a:t>
            </a:r>
            <a:endParaRPr b="0" i="0" sz="900" u="none" cap="none" strike="noStrike">
              <a:solidFill>
                <a:schemeClr val="dk1"/>
              </a:solidFill>
              <a:latin typeface="Calibri"/>
              <a:ea typeface="Calibri"/>
              <a:cs typeface="Calibri"/>
              <a:sym typeface="Calibri"/>
            </a:endParaRPr>
          </a:p>
        </p:txBody>
      </p:sp>
      <p:sp>
        <p:nvSpPr>
          <p:cNvPr id="161" name="Google Shape;161;p4"/>
          <p:cNvSpPr/>
          <p:nvPr/>
        </p:nvSpPr>
        <p:spPr>
          <a:xfrm>
            <a:off x="548640" y="3913632"/>
            <a:ext cx="1199693" cy="219456"/>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548640" y="3913632"/>
            <a:ext cx="2926080" cy="219456"/>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4"/>
          <p:cNvSpPr/>
          <p:nvPr/>
        </p:nvSpPr>
        <p:spPr>
          <a:xfrm>
            <a:off x="548640" y="3913632"/>
            <a:ext cx="1199693" cy="219456"/>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594360" y="3913632"/>
            <a:ext cx="21945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900"/>
              <a:buFont typeface="Calibri"/>
              <a:buNone/>
            </a:pPr>
            <a:r>
              <a:rPr b="0" i="0" lang="en-US" sz="900" u="none" cap="none" strike="noStrike">
                <a:solidFill>
                  <a:srgbClr val="5A7A7E"/>
                </a:solidFill>
                <a:latin typeface="Calibri"/>
                <a:ea typeface="Calibri"/>
                <a:cs typeface="Calibri"/>
                <a:sym typeface="Calibri"/>
              </a:rPr>
              <a:t>regression_intro.pdf</a:t>
            </a:r>
            <a:endParaRPr b="0" i="0" sz="900" u="none" cap="none" strike="noStrike">
              <a:solidFill>
                <a:schemeClr val="dk1"/>
              </a:solidFill>
              <a:latin typeface="Calibri"/>
              <a:ea typeface="Calibri"/>
              <a:cs typeface="Calibri"/>
              <a:sym typeface="Calibri"/>
            </a:endParaRPr>
          </a:p>
        </p:txBody>
      </p:sp>
      <p:sp>
        <p:nvSpPr>
          <p:cNvPr id="165" name="Google Shape;165;p4"/>
          <p:cNvSpPr/>
          <p:nvPr/>
        </p:nvSpPr>
        <p:spPr>
          <a:xfrm>
            <a:off x="3429000" y="3913632"/>
            <a:ext cx="4572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2DED8"/>
              </a:buClr>
              <a:buSzPts val="900"/>
              <a:buFont typeface="Calibri"/>
              <a:buNone/>
            </a:pPr>
            <a:r>
              <a:rPr b="1" i="0" lang="en-US" sz="900" u="none" cap="none" strike="noStrike">
                <a:solidFill>
                  <a:srgbClr val="B2DED8"/>
                </a:solidFill>
                <a:latin typeface="Calibri"/>
                <a:ea typeface="Calibri"/>
                <a:cs typeface="Calibri"/>
                <a:sym typeface="Calibri"/>
              </a:rPr>
              <a:t>41%</a:t>
            </a:r>
            <a:endParaRPr b="0" i="0" sz="900" u="none" cap="none" strike="noStrike">
              <a:solidFill>
                <a:schemeClr val="dk1"/>
              </a:solidFill>
              <a:latin typeface="Calibri"/>
              <a:ea typeface="Calibri"/>
              <a:cs typeface="Calibri"/>
              <a:sym typeface="Calibri"/>
            </a:endParaRPr>
          </a:p>
        </p:txBody>
      </p:sp>
      <p:sp>
        <p:nvSpPr>
          <p:cNvPr id="166" name="Google Shape;166;p4"/>
          <p:cNvSpPr/>
          <p:nvPr/>
        </p:nvSpPr>
        <p:spPr>
          <a:xfrm>
            <a:off x="548640" y="4297680"/>
            <a:ext cx="848563" cy="219456"/>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548640" y="4297680"/>
            <a:ext cx="2926080" cy="219456"/>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548640" y="4297680"/>
            <a:ext cx="848563" cy="219456"/>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594360" y="4297680"/>
            <a:ext cx="21945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900"/>
              <a:buFont typeface="Calibri"/>
              <a:buNone/>
            </a:pPr>
            <a:r>
              <a:rPr b="0" i="0" lang="en-US" sz="900" u="none" cap="none" strike="noStrike">
                <a:solidFill>
                  <a:srgbClr val="5A7A7E"/>
                </a:solidFill>
                <a:latin typeface="Calibri"/>
                <a:ea typeface="Calibri"/>
                <a:cs typeface="Calibri"/>
                <a:sym typeface="Calibri"/>
              </a:rPr>
              <a:t>marketing_data.xlsx</a:t>
            </a:r>
            <a:endParaRPr b="0" i="0" sz="900" u="none" cap="none" strike="noStrike">
              <a:solidFill>
                <a:schemeClr val="dk1"/>
              </a:solidFill>
              <a:latin typeface="Calibri"/>
              <a:ea typeface="Calibri"/>
              <a:cs typeface="Calibri"/>
              <a:sym typeface="Calibri"/>
            </a:endParaRPr>
          </a:p>
        </p:txBody>
      </p:sp>
      <p:sp>
        <p:nvSpPr>
          <p:cNvPr id="170" name="Google Shape;170;p4"/>
          <p:cNvSpPr/>
          <p:nvPr/>
        </p:nvSpPr>
        <p:spPr>
          <a:xfrm>
            <a:off x="3429000" y="4297680"/>
            <a:ext cx="457200" cy="21945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2DED8"/>
              </a:buClr>
              <a:buSzPts val="900"/>
              <a:buFont typeface="Calibri"/>
              <a:buNone/>
            </a:pPr>
            <a:r>
              <a:rPr b="1" i="0" lang="en-US" sz="900" u="none" cap="none" strike="noStrike">
                <a:solidFill>
                  <a:srgbClr val="B2DED8"/>
                </a:solidFill>
                <a:latin typeface="Calibri"/>
                <a:ea typeface="Calibri"/>
                <a:cs typeface="Calibri"/>
                <a:sym typeface="Calibri"/>
              </a:rPr>
              <a:t>29%</a:t>
            </a:r>
            <a:endParaRPr b="0" i="0" sz="900" u="none" cap="none" strike="noStrike">
              <a:solidFill>
                <a:schemeClr val="dk1"/>
              </a:solidFill>
              <a:latin typeface="Calibri"/>
              <a:ea typeface="Calibri"/>
              <a:cs typeface="Calibri"/>
              <a:sym typeface="Calibri"/>
            </a:endParaRPr>
          </a:p>
        </p:txBody>
      </p:sp>
      <p:sp>
        <p:nvSpPr>
          <p:cNvPr id="171" name="Google Shape;171;p4"/>
          <p:cNvSpPr/>
          <p:nvPr/>
        </p:nvSpPr>
        <p:spPr>
          <a:xfrm>
            <a:off x="4709160" y="1828800"/>
            <a:ext cx="4023360" cy="2926080"/>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4709160" y="1828800"/>
            <a:ext cx="4023360" cy="38404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4846320" y="1828800"/>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Trebuchet MS"/>
              <a:buNone/>
            </a:pPr>
            <a:r>
              <a:rPr b="1" i="0" lang="en-US" sz="1400" u="none" cap="none" strike="noStrike">
                <a:solidFill>
                  <a:srgbClr val="FFFFFF"/>
                </a:solidFill>
                <a:latin typeface="Trebuchet MS"/>
                <a:ea typeface="Trebuchet MS"/>
                <a:cs typeface="Trebuchet MS"/>
                <a:sym typeface="Trebuchet MS"/>
              </a:rPr>
              <a:t>🏷  Metadata-Aware Retrieval</a:t>
            </a:r>
            <a:endParaRPr b="0" i="0" sz="1400" u="none" cap="none" strike="noStrike">
              <a:solidFill>
                <a:schemeClr val="dk1"/>
              </a:solidFill>
              <a:latin typeface="Calibri"/>
              <a:ea typeface="Calibri"/>
              <a:cs typeface="Calibri"/>
              <a:sym typeface="Calibri"/>
            </a:endParaRPr>
          </a:p>
        </p:txBody>
      </p:sp>
      <p:sp>
        <p:nvSpPr>
          <p:cNvPr id="174" name="Google Shape;174;p4"/>
          <p:cNvSpPr/>
          <p:nvPr/>
        </p:nvSpPr>
        <p:spPr>
          <a:xfrm>
            <a:off x="4846320" y="2304288"/>
            <a:ext cx="37033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Each chunk carries structured metadata, enabling lecture-level context inference:</a:t>
            </a:r>
            <a:endParaRPr b="0" i="0" sz="1100" u="none" cap="none" strike="noStrike">
              <a:solidFill>
                <a:schemeClr val="dk1"/>
              </a:solidFill>
              <a:latin typeface="Calibri"/>
              <a:ea typeface="Calibri"/>
              <a:cs typeface="Calibri"/>
              <a:sym typeface="Calibri"/>
            </a:endParaRPr>
          </a:p>
        </p:txBody>
      </p:sp>
      <p:sp>
        <p:nvSpPr>
          <p:cNvPr id="175" name="Google Shape;175;p4"/>
          <p:cNvSpPr/>
          <p:nvPr/>
        </p:nvSpPr>
        <p:spPr>
          <a:xfrm>
            <a:off x="4846320" y="2761488"/>
            <a:ext cx="1188720" cy="256032"/>
          </a:xfrm>
          <a:prstGeom prst="roundRect">
            <a:avLst>
              <a:gd fmla="val 28571" name="adj"/>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
          <p:cNvSpPr/>
          <p:nvPr/>
        </p:nvSpPr>
        <p:spPr>
          <a:xfrm>
            <a:off x="4846320" y="2761488"/>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850"/>
              <a:buFont typeface="Calibri"/>
              <a:buNone/>
            </a:pPr>
            <a:r>
              <a:rPr b="1" i="0" lang="en-US" sz="850" u="none" cap="none" strike="noStrike">
                <a:solidFill>
                  <a:srgbClr val="0B5E6E"/>
                </a:solidFill>
                <a:latin typeface="Calibri"/>
                <a:ea typeface="Calibri"/>
                <a:cs typeface="Calibri"/>
                <a:sym typeface="Calibri"/>
              </a:rPr>
              <a:t>source_file</a:t>
            </a:r>
            <a:endParaRPr b="0" i="0" sz="850" u="none" cap="none" strike="noStrike">
              <a:solidFill>
                <a:schemeClr val="dk1"/>
              </a:solidFill>
              <a:latin typeface="Calibri"/>
              <a:ea typeface="Calibri"/>
              <a:cs typeface="Calibri"/>
              <a:sym typeface="Calibri"/>
            </a:endParaRPr>
          </a:p>
        </p:txBody>
      </p:sp>
      <p:sp>
        <p:nvSpPr>
          <p:cNvPr id="177" name="Google Shape;177;p4"/>
          <p:cNvSpPr/>
          <p:nvPr/>
        </p:nvSpPr>
        <p:spPr>
          <a:xfrm>
            <a:off x="6126480" y="2761488"/>
            <a:ext cx="2468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000"/>
              <a:buFont typeface="Calibri"/>
              <a:buNone/>
            </a:pPr>
            <a:r>
              <a:rPr b="0" i="0" lang="en-US" sz="1000" u="none" cap="none" strike="noStrike">
                <a:solidFill>
                  <a:srgbClr val="1E3A5F"/>
                </a:solidFill>
                <a:latin typeface="Calibri"/>
                <a:ea typeface="Calibri"/>
                <a:cs typeface="Calibri"/>
                <a:sym typeface="Calibri"/>
              </a:rPr>
              <a:t>lecture_03_kmeans.pdf</a:t>
            </a:r>
            <a:endParaRPr b="0" i="0" sz="1000" u="none" cap="none" strike="noStrike">
              <a:solidFill>
                <a:schemeClr val="dk1"/>
              </a:solidFill>
              <a:latin typeface="Calibri"/>
              <a:ea typeface="Calibri"/>
              <a:cs typeface="Calibri"/>
              <a:sym typeface="Calibri"/>
            </a:endParaRPr>
          </a:p>
        </p:txBody>
      </p:sp>
      <p:sp>
        <p:nvSpPr>
          <p:cNvPr id="178" name="Google Shape;178;p4"/>
          <p:cNvSpPr/>
          <p:nvPr/>
        </p:nvSpPr>
        <p:spPr>
          <a:xfrm>
            <a:off x="4846320" y="3108960"/>
            <a:ext cx="1188720" cy="256032"/>
          </a:xfrm>
          <a:prstGeom prst="roundRect">
            <a:avLst>
              <a:gd fmla="val 28571" name="adj"/>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4846320" y="3108960"/>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850"/>
              <a:buFont typeface="Calibri"/>
              <a:buNone/>
            </a:pPr>
            <a:r>
              <a:rPr b="1" i="0" lang="en-US" sz="850" u="none" cap="none" strike="noStrike">
                <a:solidFill>
                  <a:srgbClr val="0B5E6E"/>
                </a:solidFill>
                <a:latin typeface="Calibri"/>
                <a:ea typeface="Calibri"/>
                <a:cs typeface="Calibri"/>
                <a:sym typeface="Calibri"/>
              </a:rPr>
              <a:t>doc_type</a:t>
            </a:r>
            <a:endParaRPr b="0" i="0" sz="850" u="none" cap="none" strike="noStrike">
              <a:solidFill>
                <a:schemeClr val="dk1"/>
              </a:solidFill>
              <a:latin typeface="Calibri"/>
              <a:ea typeface="Calibri"/>
              <a:cs typeface="Calibri"/>
              <a:sym typeface="Calibri"/>
            </a:endParaRPr>
          </a:p>
        </p:txBody>
      </p:sp>
      <p:sp>
        <p:nvSpPr>
          <p:cNvPr id="180" name="Google Shape;180;p4"/>
          <p:cNvSpPr/>
          <p:nvPr/>
        </p:nvSpPr>
        <p:spPr>
          <a:xfrm>
            <a:off x="6126480" y="3108960"/>
            <a:ext cx="2468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000"/>
              <a:buFont typeface="Calibri"/>
              <a:buNone/>
            </a:pPr>
            <a:r>
              <a:rPr b="0" i="0" lang="en-US" sz="1000" u="none" cap="none" strike="noStrike">
                <a:solidFill>
                  <a:srgbClr val="1E3A5F"/>
                </a:solidFill>
                <a:latin typeface="Calibri"/>
                <a:ea typeface="Calibri"/>
                <a:cs typeface="Calibri"/>
                <a:sym typeface="Calibri"/>
              </a:rPr>
              <a:t>lecture_slides</a:t>
            </a:r>
            <a:endParaRPr b="0" i="0" sz="1000" u="none" cap="none" strike="noStrike">
              <a:solidFill>
                <a:schemeClr val="dk1"/>
              </a:solidFill>
              <a:latin typeface="Calibri"/>
              <a:ea typeface="Calibri"/>
              <a:cs typeface="Calibri"/>
              <a:sym typeface="Calibri"/>
            </a:endParaRPr>
          </a:p>
        </p:txBody>
      </p:sp>
      <p:sp>
        <p:nvSpPr>
          <p:cNvPr id="181" name="Google Shape;181;p4"/>
          <p:cNvSpPr/>
          <p:nvPr/>
        </p:nvSpPr>
        <p:spPr>
          <a:xfrm>
            <a:off x="4846320" y="3456432"/>
            <a:ext cx="1188720" cy="256032"/>
          </a:xfrm>
          <a:prstGeom prst="roundRect">
            <a:avLst>
              <a:gd fmla="val 28571" name="adj"/>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a:off x="4846320" y="3456432"/>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850"/>
              <a:buFont typeface="Calibri"/>
              <a:buNone/>
            </a:pPr>
            <a:r>
              <a:rPr b="1" i="0" lang="en-US" sz="850" u="none" cap="none" strike="noStrike">
                <a:solidFill>
                  <a:srgbClr val="0B5E6E"/>
                </a:solidFill>
                <a:latin typeface="Calibri"/>
                <a:ea typeface="Calibri"/>
                <a:cs typeface="Calibri"/>
                <a:sym typeface="Calibri"/>
              </a:rPr>
              <a:t>topic</a:t>
            </a:r>
            <a:endParaRPr b="0" i="0" sz="850" u="none" cap="none" strike="noStrike">
              <a:solidFill>
                <a:schemeClr val="dk1"/>
              </a:solidFill>
              <a:latin typeface="Calibri"/>
              <a:ea typeface="Calibri"/>
              <a:cs typeface="Calibri"/>
              <a:sym typeface="Calibri"/>
            </a:endParaRPr>
          </a:p>
        </p:txBody>
      </p:sp>
      <p:sp>
        <p:nvSpPr>
          <p:cNvPr id="183" name="Google Shape;183;p4"/>
          <p:cNvSpPr/>
          <p:nvPr/>
        </p:nvSpPr>
        <p:spPr>
          <a:xfrm>
            <a:off x="6126480" y="3456432"/>
            <a:ext cx="2468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000"/>
              <a:buFont typeface="Calibri"/>
              <a:buNone/>
            </a:pPr>
            <a:r>
              <a:rPr b="0" i="0" lang="en-US" sz="1000" u="none" cap="none" strike="noStrike">
                <a:solidFill>
                  <a:srgbClr val="1E3A5F"/>
                </a:solidFill>
                <a:latin typeface="Calibri"/>
                <a:ea typeface="Calibri"/>
                <a:cs typeface="Calibri"/>
                <a:sym typeface="Calibri"/>
              </a:rPr>
              <a:t>Unsupervised Learning</a:t>
            </a:r>
            <a:endParaRPr b="0" i="0" sz="1000" u="none" cap="none" strike="noStrike">
              <a:solidFill>
                <a:schemeClr val="dk1"/>
              </a:solidFill>
              <a:latin typeface="Calibri"/>
              <a:ea typeface="Calibri"/>
              <a:cs typeface="Calibri"/>
              <a:sym typeface="Calibri"/>
            </a:endParaRPr>
          </a:p>
        </p:txBody>
      </p:sp>
      <p:sp>
        <p:nvSpPr>
          <p:cNvPr id="184" name="Google Shape;184;p4"/>
          <p:cNvSpPr/>
          <p:nvPr/>
        </p:nvSpPr>
        <p:spPr>
          <a:xfrm>
            <a:off x="4846320" y="3803904"/>
            <a:ext cx="1188720" cy="256032"/>
          </a:xfrm>
          <a:prstGeom prst="roundRect">
            <a:avLst>
              <a:gd fmla="val 28571" name="adj"/>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4846320" y="3803904"/>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5E6E"/>
              </a:buClr>
              <a:buSzPts val="850"/>
              <a:buFont typeface="Calibri"/>
              <a:buNone/>
            </a:pPr>
            <a:r>
              <a:rPr b="1" i="0" lang="en-US" sz="850" u="none" cap="none" strike="noStrike">
                <a:solidFill>
                  <a:srgbClr val="0B5E6E"/>
                </a:solidFill>
                <a:latin typeface="Calibri"/>
                <a:ea typeface="Calibri"/>
                <a:cs typeface="Calibri"/>
                <a:sym typeface="Calibri"/>
              </a:rPr>
              <a:t>content_type</a:t>
            </a:r>
            <a:endParaRPr b="0" i="0" sz="850" u="none" cap="none" strike="noStrike">
              <a:solidFill>
                <a:schemeClr val="dk1"/>
              </a:solidFill>
              <a:latin typeface="Calibri"/>
              <a:ea typeface="Calibri"/>
              <a:cs typeface="Calibri"/>
              <a:sym typeface="Calibri"/>
            </a:endParaRPr>
          </a:p>
        </p:txBody>
      </p:sp>
      <p:sp>
        <p:nvSpPr>
          <p:cNvPr id="186" name="Google Shape;186;p4"/>
          <p:cNvSpPr/>
          <p:nvPr/>
        </p:nvSpPr>
        <p:spPr>
          <a:xfrm>
            <a:off x="6126480" y="3803904"/>
            <a:ext cx="246888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000"/>
              <a:buFont typeface="Calibri"/>
              <a:buNone/>
            </a:pPr>
            <a:r>
              <a:rPr b="0" i="0" lang="en-US" sz="1000" u="none" cap="none" strike="noStrike">
                <a:solidFill>
                  <a:srgbClr val="1E3A5F"/>
                </a:solidFill>
                <a:latin typeface="Calibri"/>
                <a:ea typeface="Calibri"/>
                <a:cs typeface="Calibri"/>
                <a:sym typeface="Calibri"/>
              </a:rPr>
              <a:t>R_code / slides / notes</a:t>
            </a:r>
            <a:endParaRPr b="0" i="0" sz="1000" u="none" cap="none" strike="noStrike">
              <a:solidFill>
                <a:schemeClr val="dk1"/>
              </a:solidFill>
              <a:latin typeface="Calibri"/>
              <a:ea typeface="Calibri"/>
              <a:cs typeface="Calibri"/>
              <a:sym typeface="Calibri"/>
            </a:endParaRPr>
          </a:p>
        </p:txBody>
      </p:sp>
      <p:sp>
        <p:nvSpPr>
          <p:cNvPr id="187" name="Google Shape;187;p4"/>
          <p:cNvSpPr/>
          <p:nvPr/>
        </p:nvSpPr>
        <p:spPr>
          <a:xfrm>
            <a:off x="4709160" y="4224528"/>
            <a:ext cx="4023360" cy="530352"/>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a:off x="4709160" y="4224528"/>
            <a:ext cx="64008" cy="53035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p:nvPr/>
        </p:nvSpPr>
        <p:spPr>
          <a:xfrm>
            <a:off x="4846320" y="4251960"/>
            <a:ext cx="374904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1050"/>
              <a:buFont typeface="Calibri"/>
              <a:buNone/>
            </a:pPr>
            <a:r>
              <a:rPr b="0" i="1" lang="en-US" sz="1050" u="none" cap="none" strike="noStrike">
                <a:solidFill>
                  <a:srgbClr val="0B5E6E"/>
                </a:solidFill>
                <a:latin typeface="Calibri"/>
                <a:ea typeface="Calibri"/>
                <a:cs typeface="Calibri"/>
                <a:sym typeface="Calibri"/>
              </a:rPr>
              <a:t>💡  If a student asks about "Lecture 3", metadata retrieval surfaces all Lecture 3 chunks — even if no topic keyword was mentioned.</a:t>
            </a:r>
            <a:endParaRPr b="0" i="0" sz="1050" u="none" cap="none" strike="noStrike">
              <a:solidFill>
                <a:schemeClr val="dk1"/>
              </a:solidFill>
              <a:latin typeface="Calibri"/>
              <a:ea typeface="Calibri"/>
              <a:cs typeface="Calibri"/>
              <a:sym typeface="Calibri"/>
            </a:endParaRPr>
          </a:p>
        </p:txBody>
      </p:sp>
      <p:sp>
        <p:nvSpPr>
          <p:cNvPr id="190" name="Google Shape;190;p4"/>
          <p:cNvSpPr/>
          <p:nvPr/>
        </p:nvSpPr>
        <p:spPr>
          <a:xfrm>
            <a:off x="0" y="5001768"/>
            <a:ext cx="9144000" cy="141732"/>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p:nvPr/>
        </p:nvSpPr>
        <p:spPr>
          <a:xfrm>
            <a:off x="365760" y="5001768"/>
            <a:ext cx="6400800" cy="1417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Smart Retrieval</a:t>
            </a:r>
            <a:endParaRPr b="0" i="0" sz="800" u="none" cap="none" strike="noStrike">
              <a:solidFill>
                <a:schemeClr val="dk1"/>
              </a:solidFill>
              <a:latin typeface="Calibri"/>
              <a:ea typeface="Calibri"/>
              <a:cs typeface="Calibri"/>
              <a:sym typeface="Calibri"/>
            </a:endParaRPr>
          </a:p>
        </p:txBody>
      </p:sp>
      <p:sp>
        <p:nvSpPr>
          <p:cNvPr id="192" name="Google Shape;192;p4"/>
          <p:cNvSpPr/>
          <p:nvPr/>
        </p:nvSpPr>
        <p:spPr>
          <a:xfrm>
            <a:off x="8229600" y="5001768"/>
            <a:ext cx="640080" cy="1417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4 /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97" name="Shape 197"/>
        <p:cNvGrpSpPr/>
        <p:nvPr/>
      </p:nvGrpSpPr>
      <p:grpSpPr>
        <a:xfrm>
          <a:off x="0" y="0"/>
          <a:ext cx="0" cy="0"/>
          <a:chOff x="0" y="0"/>
          <a:chExt cx="0" cy="0"/>
        </a:xfrm>
      </p:grpSpPr>
      <p:sp>
        <p:nvSpPr>
          <p:cNvPr id="198" name="Google Shape;198;p5"/>
          <p:cNvSpPr/>
          <p:nvPr/>
        </p:nvSpPr>
        <p:spPr>
          <a:xfrm>
            <a:off x="411480" y="164592"/>
            <a:ext cx="1371600" cy="246888"/>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5"/>
          <p:cNvSpPr/>
          <p:nvPr/>
        </p:nvSpPr>
        <p:spPr>
          <a:xfrm>
            <a:off x="411480" y="164592"/>
            <a:ext cx="137160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04  RERANKING</a:t>
            </a:r>
            <a:endParaRPr b="0" i="0" sz="800" u="none" cap="none" strike="noStrike">
              <a:solidFill>
                <a:schemeClr val="dk1"/>
              </a:solidFill>
              <a:latin typeface="Calibri"/>
              <a:ea typeface="Calibri"/>
              <a:cs typeface="Calibri"/>
              <a:sym typeface="Calibri"/>
            </a:endParaRPr>
          </a:p>
        </p:txBody>
      </p:sp>
      <p:sp>
        <p:nvSpPr>
          <p:cNvPr id="200" name="Google Shape;200;p5"/>
          <p:cNvSpPr/>
          <p:nvPr/>
        </p:nvSpPr>
        <p:spPr>
          <a:xfrm>
            <a:off x="411480" y="475488"/>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000"/>
              <a:buFont typeface="Trebuchet MS"/>
              <a:buNone/>
            </a:pPr>
            <a:r>
              <a:rPr b="1" i="0" lang="en-US" sz="3000" u="none" cap="none" strike="noStrike">
                <a:solidFill>
                  <a:srgbClr val="1E3A5F"/>
                </a:solidFill>
                <a:latin typeface="Trebuchet MS"/>
                <a:ea typeface="Trebuchet MS"/>
                <a:cs typeface="Trebuchet MS"/>
                <a:sym typeface="Trebuchet MS"/>
              </a:rPr>
              <a:t>Cross-Encoder Reranking</a:t>
            </a:r>
            <a:endParaRPr b="0" i="0" sz="3000" u="none" cap="none" strike="noStrike">
              <a:solidFill>
                <a:schemeClr val="dk1"/>
              </a:solidFill>
              <a:latin typeface="Calibri"/>
              <a:ea typeface="Calibri"/>
              <a:cs typeface="Calibri"/>
              <a:sym typeface="Calibri"/>
            </a:endParaRPr>
          </a:p>
        </p:txBody>
      </p:sp>
      <p:sp>
        <p:nvSpPr>
          <p:cNvPr id="201" name="Google Shape;201;p5"/>
          <p:cNvSpPr/>
          <p:nvPr/>
        </p:nvSpPr>
        <p:spPr>
          <a:xfrm>
            <a:off x="411480" y="1051560"/>
            <a:ext cx="832104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350"/>
              <a:buFont typeface="Calibri"/>
              <a:buNone/>
            </a:pPr>
            <a:r>
              <a:rPr b="0" i="1" lang="en-US" sz="1350" u="none" cap="none" strike="noStrike">
                <a:solidFill>
                  <a:srgbClr val="5A7A7E"/>
                </a:solidFill>
                <a:latin typeface="Calibri"/>
                <a:ea typeface="Calibri"/>
                <a:cs typeface="Calibri"/>
                <a:sym typeface="Calibri"/>
              </a:rPr>
              <a:t>Vector search retrieves broadly. Reranking chooses precisely.</a:t>
            </a:r>
            <a:endParaRPr b="0" i="0" sz="1350" u="none" cap="none" strike="noStrike">
              <a:solidFill>
                <a:schemeClr val="dk1"/>
              </a:solidFill>
              <a:latin typeface="Calibri"/>
              <a:ea typeface="Calibri"/>
              <a:cs typeface="Calibri"/>
              <a:sym typeface="Calibri"/>
            </a:endParaRPr>
          </a:p>
        </p:txBody>
      </p:sp>
      <p:sp>
        <p:nvSpPr>
          <p:cNvPr id="202" name="Google Shape;202;p5"/>
          <p:cNvSpPr/>
          <p:nvPr/>
        </p:nvSpPr>
        <p:spPr>
          <a:xfrm>
            <a:off x="411480" y="1463040"/>
            <a:ext cx="3474720" cy="3246120"/>
          </a:xfrm>
          <a:prstGeom prst="rect">
            <a:avLst/>
          </a:prstGeom>
          <a:solidFill>
            <a:srgbClr val="FFFFFF"/>
          </a:solidFill>
          <a:ln>
            <a:noFill/>
          </a:ln>
          <a:effectLst>
            <a:outerShdw blurRad="635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411480" y="1463040"/>
            <a:ext cx="3474720" cy="347472"/>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548640" y="1463040"/>
            <a:ext cx="329184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STAGE 1  —  Vector Search  →  Top 10</a:t>
            </a:r>
            <a:endParaRPr b="0" i="0" sz="1100" u="none" cap="none" strike="noStrike">
              <a:solidFill>
                <a:schemeClr val="dk1"/>
              </a:solidFill>
              <a:latin typeface="Calibri"/>
              <a:ea typeface="Calibri"/>
              <a:cs typeface="Calibri"/>
              <a:sym typeface="Calibri"/>
            </a:endParaRPr>
          </a:p>
        </p:txBody>
      </p:sp>
      <p:sp>
        <p:nvSpPr>
          <p:cNvPr id="205" name="Google Shape;205;p5"/>
          <p:cNvSpPr/>
          <p:nvPr/>
        </p:nvSpPr>
        <p:spPr>
          <a:xfrm>
            <a:off x="548640" y="190195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
          <p:cNvSpPr/>
          <p:nvPr/>
        </p:nvSpPr>
        <p:spPr>
          <a:xfrm>
            <a:off x="548640" y="1901952"/>
            <a:ext cx="2103120" cy="18288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5"/>
          <p:cNvSpPr/>
          <p:nvPr/>
        </p:nvSpPr>
        <p:spPr>
          <a:xfrm>
            <a:off x="576072" y="190195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lecture_03_kmeans</a:t>
            </a:r>
            <a:endParaRPr b="0" i="0" sz="800" u="none" cap="none" strike="noStrike">
              <a:solidFill>
                <a:schemeClr val="dk1"/>
              </a:solidFill>
              <a:latin typeface="Calibri"/>
              <a:ea typeface="Calibri"/>
              <a:cs typeface="Calibri"/>
              <a:sym typeface="Calibri"/>
            </a:endParaRPr>
          </a:p>
        </p:txBody>
      </p:sp>
      <p:sp>
        <p:nvSpPr>
          <p:cNvPr id="208" name="Google Shape;208;p5"/>
          <p:cNvSpPr/>
          <p:nvPr/>
        </p:nvSpPr>
        <p:spPr>
          <a:xfrm>
            <a:off x="2834640" y="190195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800"/>
              <a:buFont typeface="Calibri"/>
              <a:buNone/>
            </a:pPr>
            <a:r>
              <a:rPr b="1" i="0" lang="en-US" sz="800" u="none" cap="none" strike="noStrike">
                <a:solidFill>
                  <a:srgbClr val="0B5E6E"/>
                </a:solidFill>
                <a:latin typeface="Calibri"/>
                <a:ea typeface="Calibri"/>
                <a:cs typeface="Calibri"/>
                <a:sym typeface="Calibri"/>
              </a:rPr>
              <a:t>92%</a:t>
            </a:r>
            <a:endParaRPr b="0" i="0" sz="800" u="none" cap="none" strike="noStrike">
              <a:solidFill>
                <a:schemeClr val="dk1"/>
              </a:solidFill>
              <a:latin typeface="Calibri"/>
              <a:ea typeface="Calibri"/>
              <a:cs typeface="Calibri"/>
              <a:sym typeface="Calibri"/>
            </a:endParaRPr>
          </a:p>
        </p:txBody>
      </p:sp>
      <p:sp>
        <p:nvSpPr>
          <p:cNvPr id="209" name="Google Shape;209;p5"/>
          <p:cNvSpPr/>
          <p:nvPr/>
        </p:nvSpPr>
        <p:spPr>
          <a:xfrm>
            <a:off x="548640" y="217627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a:off x="548640" y="2176272"/>
            <a:ext cx="1988820" cy="18288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576072" y="217627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pca_notes</a:t>
            </a:r>
            <a:endParaRPr b="0" i="0" sz="800" u="none" cap="none" strike="noStrike">
              <a:solidFill>
                <a:schemeClr val="dk1"/>
              </a:solidFill>
              <a:latin typeface="Calibri"/>
              <a:ea typeface="Calibri"/>
              <a:cs typeface="Calibri"/>
              <a:sym typeface="Calibri"/>
            </a:endParaRPr>
          </a:p>
        </p:txBody>
      </p:sp>
      <p:sp>
        <p:nvSpPr>
          <p:cNvPr id="212" name="Google Shape;212;p5"/>
          <p:cNvSpPr/>
          <p:nvPr/>
        </p:nvSpPr>
        <p:spPr>
          <a:xfrm>
            <a:off x="2834640" y="217627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800"/>
              <a:buFont typeface="Calibri"/>
              <a:buNone/>
            </a:pPr>
            <a:r>
              <a:rPr b="1" i="0" lang="en-US" sz="800" u="none" cap="none" strike="noStrike">
                <a:solidFill>
                  <a:srgbClr val="0B5E6E"/>
                </a:solidFill>
                <a:latin typeface="Calibri"/>
                <a:ea typeface="Calibri"/>
                <a:cs typeface="Calibri"/>
                <a:sym typeface="Calibri"/>
              </a:rPr>
              <a:t>87%</a:t>
            </a:r>
            <a:endParaRPr b="0" i="0" sz="800" u="none" cap="none" strike="noStrike">
              <a:solidFill>
                <a:schemeClr val="dk1"/>
              </a:solidFill>
              <a:latin typeface="Calibri"/>
              <a:ea typeface="Calibri"/>
              <a:cs typeface="Calibri"/>
              <a:sym typeface="Calibri"/>
            </a:endParaRPr>
          </a:p>
        </p:txBody>
      </p:sp>
      <p:sp>
        <p:nvSpPr>
          <p:cNvPr id="213" name="Google Shape;213;p5"/>
          <p:cNvSpPr/>
          <p:nvPr/>
        </p:nvSpPr>
        <p:spPr>
          <a:xfrm>
            <a:off x="548640" y="245059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a:off x="548640" y="2450592"/>
            <a:ext cx="1897380" cy="18288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a:off x="576072" y="245059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R_demo_cluster</a:t>
            </a:r>
            <a:endParaRPr b="0" i="0" sz="800" u="none" cap="none" strike="noStrike">
              <a:solidFill>
                <a:schemeClr val="dk1"/>
              </a:solidFill>
              <a:latin typeface="Calibri"/>
              <a:ea typeface="Calibri"/>
              <a:cs typeface="Calibri"/>
              <a:sym typeface="Calibri"/>
            </a:endParaRPr>
          </a:p>
        </p:txBody>
      </p:sp>
      <p:sp>
        <p:nvSpPr>
          <p:cNvPr id="216" name="Google Shape;216;p5"/>
          <p:cNvSpPr/>
          <p:nvPr/>
        </p:nvSpPr>
        <p:spPr>
          <a:xfrm>
            <a:off x="2834640" y="245059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800"/>
              <a:buFont typeface="Calibri"/>
              <a:buNone/>
            </a:pPr>
            <a:r>
              <a:rPr b="1" i="0" lang="en-US" sz="800" u="none" cap="none" strike="noStrike">
                <a:solidFill>
                  <a:srgbClr val="0B5E6E"/>
                </a:solidFill>
                <a:latin typeface="Calibri"/>
                <a:ea typeface="Calibri"/>
                <a:cs typeface="Calibri"/>
                <a:sym typeface="Calibri"/>
              </a:rPr>
              <a:t>83%</a:t>
            </a:r>
            <a:endParaRPr b="0" i="0" sz="800" u="none" cap="none" strike="noStrike">
              <a:solidFill>
                <a:schemeClr val="dk1"/>
              </a:solidFill>
              <a:latin typeface="Calibri"/>
              <a:ea typeface="Calibri"/>
              <a:cs typeface="Calibri"/>
              <a:sym typeface="Calibri"/>
            </a:endParaRPr>
          </a:p>
        </p:txBody>
      </p:sp>
      <p:sp>
        <p:nvSpPr>
          <p:cNvPr id="217" name="Google Shape;217;p5"/>
          <p:cNvSpPr/>
          <p:nvPr/>
        </p:nvSpPr>
        <p:spPr>
          <a:xfrm>
            <a:off x="548640" y="272491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548640" y="2724912"/>
            <a:ext cx="1805940" cy="18288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576072" y="272491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lecture_07_pca</a:t>
            </a:r>
            <a:endParaRPr b="0" i="0" sz="800" u="none" cap="none" strike="noStrike">
              <a:solidFill>
                <a:schemeClr val="dk1"/>
              </a:solidFill>
              <a:latin typeface="Calibri"/>
              <a:ea typeface="Calibri"/>
              <a:cs typeface="Calibri"/>
              <a:sym typeface="Calibri"/>
            </a:endParaRPr>
          </a:p>
        </p:txBody>
      </p:sp>
      <p:sp>
        <p:nvSpPr>
          <p:cNvPr id="220" name="Google Shape;220;p5"/>
          <p:cNvSpPr/>
          <p:nvPr/>
        </p:nvSpPr>
        <p:spPr>
          <a:xfrm>
            <a:off x="2834640" y="272491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800"/>
              <a:buFont typeface="Calibri"/>
              <a:buNone/>
            </a:pPr>
            <a:r>
              <a:rPr b="1" i="0" lang="en-US" sz="800" u="none" cap="none" strike="noStrike">
                <a:solidFill>
                  <a:srgbClr val="0B5E6E"/>
                </a:solidFill>
                <a:latin typeface="Calibri"/>
                <a:ea typeface="Calibri"/>
                <a:cs typeface="Calibri"/>
                <a:sym typeface="Calibri"/>
              </a:rPr>
              <a:t>79%</a:t>
            </a:r>
            <a:endParaRPr b="0" i="0" sz="800" u="none" cap="none" strike="noStrike">
              <a:solidFill>
                <a:schemeClr val="dk1"/>
              </a:solidFill>
              <a:latin typeface="Calibri"/>
              <a:ea typeface="Calibri"/>
              <a:cs typeface="Calibri"/>
              <a:sym typeface="Calibri"/>
            </a:endParaRPr>
          </a:p>
        </p:txBody>
      </p:sp>
      <p:sp>
        <p:nvSpPr>
          <p:cNvPr id="221" name="Google Shape;221;p5"/>
          <p:cNvSpPr/>
          <p:nvPr/>
        </p:nvSpPr>
        <p:spPr>
          <a:xfrm>
            <a:off x="548640" y="299923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548640" y="2999232"/>
            <a:ext cx="1691640" cy="18288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576072" y="299923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notes_week3</a:t>
            </a:r>
            <a:endParaRPr b="0" i="0" sz="800" u="none" cap="none" strike="noStrike">
              <a:solidFill>
                <a:schemeClr val="dk1"/>
              </a:solidFill>
              <a:latin typeface="Calibri"/>
              <a:ea typeface="Calibri"/>
              <a:cs typeface="Calibri"/>
              <a:sym typeface="Calibri"/>
            </a:endParaRPr>
          </a:p>
        </p:txBody>
      </p:sp>
      <p:sp>
        <p:nvSpPr>
          <p:cNvPr id="224" name="Google Shape;224;p5"/>
          <p:cNvSpPr/>
          <p:nvPr/>
        </p:nvSpPr>
        <p:spPr>
          <a:xfrm>
            <a:off x="2834640" y="299923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800"/>
              <a:buFont typeface="Calibri"/>
              <a:buNone/>
            </a:pPr>
            <a:r>
              <a:rPr b="1" i="0" lang="en-US" sz="800" u="none" cap="none" strike="noStrike">
                <a:solidFill>
                  <a:srgbClr val="0B5E6E"/>
                </a:solidFill>
                <a:latin typeface="Calibri"/>
                <a:ea typeface="Calibri"/>
                <a:cs typeface="Calibri"/>
                <a:sym typeface="Calibri"/>
              </a:rPr>
              <a:t>74%</a:t>
            </a:r>
            <a:endParaRPr b="0" i="0" sz="800" u="none" cap="none" strike="noStrike">
              <a:solidFill>
                <a:schemeClr val="dk1"/>
              </a:solidFill>
              <a:latin typeface="Calibri"/>
              <a:ea typeface="Calibri"/>
              <a:cs typeface="Calibri"/>
              <a:sym typeface="Calibri"/>
            </a:endParaRPr>
          </a:p>
        </p:txBody>
      </p:sp>
      <p:sp>
        <p:nvSpPr>
          <p:cNvPr id="225" name="Google Shape;225;p5"/>
          <p:cNvSpPr/>
          <p:nvPr/>
        </p:nvSpPr>
        <p:spPr>
          <a:xfrm>
            <a:off x="548640" y="327355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548640" y="3273552"/>
            <a:ext cx="1485900" cy="182880"/>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576072" y="327355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regression_intro</a:t>
            </a:r>
            <a:endParaRPr b="0" i="0" sz="800" u="none" cap="none" strike="noStrike">
              <a:solidFill>
                <a:schemeClr val="dk1"/>
              </a:solidFill>
              <a:latin typeface="Calibri"/>
              <a:ea typeface="Calibri"/>
              <a:cs typeface="Calibri"/>
              <a:sym typeface="Calibri"/>
            </a:endParaRPr>
          </a:p>
        </p:txBody>
      </p:sp>
      <p:sp>
        <p:nvSpPr>
          <p:cNvPr id="228" name="Google Shape;228;p5"/>
          <p:cNvSpPr/>
          <p:nvPr/>
        </p:nvSpPr>
        <p:spPr>
          <a:xfrm>
            <a:off x="2834640" y="327355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ED8"/>
              </a:buClr>
              <a:buSzPts val="800"/>
              <a:buFont typeface="Calibri"/>
              <a:buNone/>
            </a:pPr>
            <a:r>
              <a:rPr b="1" i="0" lang="en-US" sz="800" u="none" cap="none" strike="noStrike">
                <a:solidFill>
                  <a:srgbClr val="B2DED8"/>
                </a:solidFill>
                <a:latin typeface="Calibri"/>
                <a:ea typeface="Calibri"/>
                <a:cs typeface="Calibri"/>
                <a:sym typeface="Calibri"/>
              </a:rPr>
              <a:t>65%</a:t>
            </a:r>
            <a:endParaRPr b="0" i="0" sz="800" u="none" cap="none" strike="noStrike">
              <a:solidFill>
                <a:schemeClr val="dk1"/>
              </a:solidFill>
              <a:latin typeface="Calibri"/>
              <a:ea typeface="Calibri"/>
              <a:cs typeface="Calibri"/>
              <a:sym typeface="Calibri"/>
            </a:endParaRPr>
          </a:p>
        </p:txBody>
      </p:sp>
      <p:sp>
        <p:nvSpPr>
          <p:cNvPr id="229" name="Google Shape;229;p5"/>
          <p:cNvSpPr/>
          <p:nvPr/>
        </p:nvSpPr>
        <p:spPr>
          <a:xfrm>
            <a:off x="548640" y="354787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548640" y="3547872"/>
            <a:ext cx="1325880" cy="182880"/>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76072" y="354787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week2_overview</a:t>
            </a:r>
            <a:endParaRPr b="0" i="0" sz="800" u="none" cap="none" strike="noStrike">
              <a:solidFill>
                <a:schemeClr val="dk1"/>
              </a:solidFill>
              <a:latin typeface="Calibri"/>
              <a:ea typeface="Calibri"/>
              <a:cs typeface="Calibri"/>
              <a:sym typeface="Calibri"/>
            </a:endParaRPr>
          </a:p>
        </p:txBody>
      </p:sp>
      <p:sp>
        <p:nvSpPr>
          <p:cNvPr id="232" name="Google Shape;232;p5"/>
          <p:cNvSpPr/>
          <p:nvPr/>
        </p:nvSpPr>
        <p:spPr>
          <a:xfrm>
            <a:off x="2834640" y="354787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ED8"/>
              </a:buClr>
              <a:buSzPts val="800"/>
              <a:buFont typeface="Calibri"/>
              <a:buNone/>
            </a:pPr>
            <a:r>
              <a:rPr b="1" i="0" lang="en-US" sz="800" u="none" cap="none" strike="noStrike">
                <a:solidFill>
                  <a:srgbClr val="B2DED8"/>
                </a:solidFill>
                <a:latin typeface="Calibri"/>
                <a:ea typeface="Calibri"/>
                <a:cs typeface="Calibri"/>
                <a:sym typeface="Calibri"/>
              </a:rPr>
              <a:t>58%</a:t>
            </a:r>
            <a:endParaRPr b="0" i="0" sz="800" u="none" cap="none" strike="noStrike">
              <a:solidFill>
                <a:schemeClr val="dk1"/>
              </a:solidFill>
              <a:latin typeface="Calibri"/>
              <a:ea typeface="Calibri"/>
              <a:cs typeface="Calibri"/>
              <a:sym typeface="Calibri"/>
            </a:endParaRPr>
          </a:p>
        </p:txBody>
      </p:sp>
      <p:sp>
        <p:nvSpPr>
          <p:cNvPr id="233" name="Google Shape;233;p5"/>
          <p:cNvSpPr/>
          <p:nvPr/>
        </p:nvSpPr>
        <p:spPr>
          <a:xfrm>
            <a:off x="548640" y="382219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548640" y="3822192"/>
            <a:ext cx="1120140" cy="182880"/>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576072" y="382219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marketing_data</a:t>
            </a:r>
            <a:endParaRPr b="0" i="0" sz="800" u="none" cap="none" strike="noStrike">
              <a:solidFill>
                <a:schemeClr val="dk1"/>
              </a:solidFill>
              <a:latin typeface="Calibri"/>
              <a:ea typeface="Calibri"/>
              <a:cs typeface="Calibri"/>
              <a:sym typeface="Calibri"/>
            </a:endParaRPr>
          </a:p>
        </p:txBody>
      </p:sp>
      <p:sp>
        <p:nvSpPr>
          <p:cNvPr id="236" name="Google Shape;236;p5"/>
          <p:cNvSpPr/>
          <p:nvPr/>
        </p:nvSpPr>
        <p:spPr>
          <a:xfrm>
            <a:off x="2834640" y="382219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ED8"/>
              </a:buClr>
              <a:buSzPts val="800"/>
              <a:buFont typeface="Calibri"/>
              <a:buNone/>
            </a:pPr>
            <a:r>
              <a:rPr b="1" i="0" lang="en-US" sz="800" u="none" cap="none" strike="noStrike">
                <a:solidFill>
                  <a:srgbClr val="B2DED8"/>
                </a:solidFill>
                <a:latin typeface="Calibri"/>
                <a:ea typeface="Calibri"/>
                <a:cs typeface="Calibri"/>
                <a:sym typeface="Calibri"/>
              </a:rPr>
              <a:t>49%</a:t>
            </a:r>
            <a:endParaRPr b="0" i="0" sz="800" u="none" cap="none" strike="noStrike">
              <a:solidFill>
                <a:schemeClr val="dk1"/>
              </a:solidFill>
              <a:latin typeface="Calibri"/>
              <a:ea typeface="Calibri"/>
              <a:cs typeface="Calibri"/>
              <a:sym typeface="Calibri"/>
            </a:endParaRPr>
          </a:p>
        </p:txBody>
      </p:sp>
      <p:sp>
        <p:nvSpPr>
          <p:cNvPr id="237" name="Google Shape;237;p5"/>
          <p:cNvSpPr/>
          <p:nvPr/>
        </p:nvSpPr>
        <p:spPr>
          <a:xfrm>
            <a:off x="548640" y="409651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548640" y="4096512"/>
            <a:ext cx="982980" cy="182880"/>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576072" y="409651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r_basics</a:t>
            </a:r>
            <a:endParaRPr b="0" i="0" sz="800" u="none" cap="none" strike="noStrike">
              <a:solidFill>
                <a:schemeClr val="dk1"/>
              </a:solidFill>
              <a:latin typeface="Calibri"/>
              <a:ea typeface="Calibri"/>
              <a:cs typeface="Calibri"/>
              <a:sym typeface="Calibri"/>
            </a:endParaRPr>
          </a:p>
        </p:txBody>
      </p:sp>
      <p:sp>
        <p:nvSpPr>
          <p:cNvPr id="240" name="Google Shape;240;p5"/>
          <p:cNvSpPr/>
          <p:nvPr/>
        </p:nvSpPr>
        <p:spPr>
          <a:xfrm>
            <a:off x="2834640" y="409651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ED8"/>
              </a:buClr>
              <a:buSzPts val="800"/>
              <a:buFont typeface="Calibri"/>
              <a:buNone/>
            </a:pPr>
            <a:r>
              <a:rPr b="1" i="0" lang="en-US" sz="800" u="none" cap="none" strike="noStrike">
                <a:solidFill>
                  <a:srgbClr val="B2DED8"/>
                </a:solidFill>
                <a:latin typeface="Calibri"/>
                <a:ea typeface="Calibri"/>
                <a:cs typeface="Calibri"/>
                <a:sym typeface="Calibri"/>
              </a:rPr>
              <a:t>43%</a:t>
            </a:r>
            <a:endParaRPr b="0" i="0" sz="800" u="none" cap="none" strike="noStrike">
              <a:solidFill>
                <a:schemeClr val="dk1"/>
              </a:solidFill>
              <a:latin typeface="Calibri"/>
              <a:ea typeface="Calibri"/>
              <a:cs typeface="Calibri"/>
              <a:sym typeface="Calibri"/>
            </a:endParaRPr>
          </a:p>
        </p:txBody>
      </p:sp>
      <p:sp>
        <p:nvSpPr>
          <p:cNvPr id="241" name="Google Shape;241;p5"/>
          <p:cNvSpPr/>
          <p:nvPr/>
        </p:nvSpPr>
        <p:spPr>
          <a:xfrm>
            <a:off x="548640" y="4370832"/>
            <a:ext cx="2286000" cy="182880"/>
          </a:xfrm>
          <a:prstGeom prst="rect">
            <a:avLst/>
          </a:prstGeom>
          <a:solidFill>
            <a:srgbClr val="E8F7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548640" y="4370832"/>
            <a:ext cx="845820" cy="182880"/>
          </a:xfrm>
          <a:prstGeom prst="rect">
            <a:avLst/>
          </a:prstGeom>
          <a:solidFill>
            <a:srgbClr val="B2D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576072" y="4370832"/>
            <a:ext cx="1828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800"/>
              <a:buFont typeface="Calibri"/>
              <a:buNone/>
            </a:pPr>
            <a:r>
              <a:rPr b="0" i="0" lang="en-US" sz="800" u="none" cap="none" strike="noStrike">
                <a:solidFill>
                  <a:srgbClr val="5A7A7E"/>
                </a:solidFill>
                <a:latin typeface="Calibri"/>
                <a:ea typeface="Calibri"/>
                <a:cs typeface="Calibri"/>
                <a:sym typeface="Calibri"/>
              </a:rPr>
              <a:t>syllabus</a:t>
            </a:r>
            <a:endParaRPr b="0" i="0" sz="800" u="none" cap="none" strike="noStrike">
              <a:solidFill>
                <a:schemeClr val="dk1"/>
              </a:solidFill>
              <a:latin typeface="Calibri"/>
              <a:ea typeface="Calibri"/>
              <a:cs typeface="Calibri"/>
              <a:sym typeface="Calibri"/>
            </a:endParaRPr>
          </a:p>
        </p:txBody>
      </p:sp>
      <p:sp>
        <p:nvSpPr>
          <p:cNvPr id="244" name="Google Shape;244;p5"/>
          <p:cNvSpPr/>
          <p:nvPr/>
        </p:nvSpPr>
        <p:spPr>
          <a:xfrm>
            <a:off x="2834640" y="4370832"/>
            <a:ext cx="4572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DED8"/>
              </a:buClr>
              <a:buSzPts val="800"/>
              <a:buFont typeface="Calibri"/>
              <a:buNone/>
            </a:pPr>
            <a:r>
              <a:rPr b="1" i="0" lang="en-US" sz="800" u="none" cap="none" strike="noStrike">
                <a:solidFill>
                  <a:srgbClr val="B2DED8"/>
                </a:solidFill>
                <a:latin typeface="Calibri"/>
                <a:ea typeface="Calibri"/>
                <a:cs typeface="Calibri"/>
                <a:sym typeface="Calibri"/>
              </a:rPr>
              <a:t>37%</a:t>
            </a:r>
            <a:endParaRPr b="0" i="0" sz="800" u="none" cap="none" strike="noStrike">
              <a:solidFill>
                <a:schemeClr val="dk1"/>
              </a:solidFill>
              <a:latin typeface="Calibri"/>
              <a:ea typeface="Calibri"/>
              <a:cs typeface="Calibri"/>
              <a:sym typeface="Calibri"/>
            </a:endParaRPr>
          </a:p>
        </p:txBody>
      </p:sp>
      <p:sp>
        <p:nvSpPr>
          <p:cNvPr id="245" name="Google Shape;245;p5"/>
          <p:cNvSpPr/>
          <p:nvPr/>
        </p:nvSpPr>
        <p:spPr>
          <a:xfrm>
            <a:off x="3977640" y="2834640"/>
            <a:ext cx="502920" cy="54864"/>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4425643" y="2732554"/>
            <a:ext cx="2013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100"/>
              <a:buFont typeface="Calibri"/>
              <a:buNone/>
            </a:pPr>
            <a:r>
              <a:rPr b="0" i="0" lang="en-US" sz="1100" u="none" cap="none" strike="noStrike">
                <a:solidFill>
                  <a:srgbClr val="10B981"/>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247" name="Google Shape;247;p5"/>
          <p:cNvSpPr/>
          <p:nvPr/>
        </p:nvSpPr>
        <p:spPr>
          <a:xfrm>
            <a:off x="3931920" y="2971800"/>
            <a:ext cx="59436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0B981"/>
              </a:buClr>
              <a:buSzPts val="800"/>
              <a:buFont typeface="Calibri"/>
              <a:buNone/>
            </a:pPr>
            <a:r>
              <a:rPr b="1" i="0" lang="en-US" sz="800" u="none" cap="none" strike="noStrike">
                <a:solidFill>
                  <a:srgbClr val="10B981"/>
                </a:solidFill>
                <a:latin typeface="Calibri"/>
                <a:ea typeface="Calibri"/>
                <a:cs typeface="Calibri"/>
                <a:sym typeface="Calibri"/>
              </a:rPr>
              <a:t>Cross-</a:t>
            </a:r>
            <a:endParaRPr b="0" i="0" sz="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0B981"/>
              </a:buClr>
              <a:buSzPts val="800"/>
              <a:buFont typeface="Calibri"/>
              <a:buNone/>
            </a:pPr>
            <a:r>
              <a:rPr b="1" i="0" lang="en-US" sz="800" u="none" cap="none" strike="noStrike">
                <a:solidFill>
                  <a:srgbClr val="10B981"/>
                </a:solidFill>
                <a:latin typeface="Calibri"/>
                <a:ea typeface="Calibri"/>
                <a:cs typeface="Calibri"/>
                <a:sym typeface="Calibri"/>
              </a:rPr>
              <a:t>Encoder</a:t>
            </a:r>
            <a:endParaRPr b="0" i="0" sz="800" u="none" cap="none" strike="noStrike">
              <a:solidFill>
                <a:schemeClr val="dk1"/>
              </a:solidFill>
              <a:latin typeface="Calibri"/>
              <a:ea typeface="Calibri"/>
              <a:cs typeface="Calibri"/>
              <a:sym typeface="Calibri"/>
            </a:endParaRPr>
          </a:p>
        </p:txBody>
      </p:sp>
      <p:sp>
        <p:nvSpPr>
          <p:cNvPr id="248" name="Google Shape;248;p5"/>
          <p:cNvSpPr/>
          <p:nvPr/>
        </p:nvSpPr>
        <p:spPr>
          <a:xfrm>
            <a:off x="4663440" y="1463040"/>
            <a:ext cx="4069080" cy="3246120"/>
          </a:xfrm>
          <a:prstGeom prst="rect">
            <a:avLst/>
          </a:prstGeom>
          <a:solidFill>
            <a:srgbClr val="FFFFFF"/>
          </a:solidFill>
          <a:ln>
            <a:noFill/>
          </a:ln>
          <a:effectLst>
            <a:outerShdw blurRad="635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4663440" y="1463040"/>
            <a:ext cx="4069080" cy="34747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4800600" y="1463040"/>
            <a:ext cx="3840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rPr b="1" i="0" lang="en-US" sz="1100" u="none" cap="none" strike="noStrike">
                <a:solidFill>
                  <a:srgbClr val="FFFFFF"/>
                </a:solidFill>
                <a:latin typeface="Trebuchet MS"/>
                <a:ea typeface="Trebuchet MS"/>
                <a:cs typeface="Trebuchet MS"/>
                <a:sym typeface="Trebuchet MS"/>
              </a:rPr>
              <a:t>STAGE 2  —  Reranked  →  Top 4 to LLM</a:t>
            </a:r>
            <a:endParaRPr b="0" i="0" sz="1100" u="none" cap="none" strike="noStrike">
              <a:solidFill>
                <a:schemeClr val="dk1"/>
              </a:solidFill>
              <a:latin typeface="Calibri"/>
              <a:ea typeface="Calibri"/>
              <a:cs typeface="Calibri"/>
              <a:sym typeface="Calibri"/>
            </a:endParaRPr>
          </a:p>
        </p:txBody>
      </p:sp>
      <p:sp>
        <p:nvSpPr>
          <p:cNvPr id="251" name="Google Shape;251;p5"/>
          <p:cNvSpPr/>
          <p:nvPr/>
        </p:nvSpPr>
        <p:spPr>
          <a:xfrm>
            <a:off x="4800600" y="1874520"/>
            <a:ext cx="3794760" cy="777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050"/>
              <a:buFont typeface="Calibri"/>
              <a:buNone/>
            </a:pPr>
            <a:r>
              <a:rPr b="0" i="0" lang="en-US" sz="1050" u="none" cap="none" strike="noStrike">
                <a:solidFill>
                  <a:srgbClr val="5A7A7E"/>
                </a:solidFill>
                <a:latin typeface="Calibri"/>
                <a:ea typeface="Calibri"/>
                <a:cs typeface="Calibri"/>
                <a:sym typeface="Calibri"/>
              </a:rPr>
              <a:t>Why reranking? Embedding models measure semantic similarity — but cosine distance is symmetric and context-free. The cross-encoder evaluates the query and chunk together, asking: does this chunk actually answer the question?</a:t>
            </a:r>
            <a:endParaRPr b="0" i="0" sz="1050" u="none" cap="none" strike="noStrike">
              <a:solidFill>
                <a:schemeClr val="dk1"/>
              </a:solidFill>
              <a:latin typeface="Calibri"/>
              <a:ea typeface="Calibri"/>
              <a:cs typeface="Calibri"/>
              <a:sym typeface="Calibri"/>
            </a:endParaRPr>
          </a:p>
        </p:txBody>
      </p:sp>
      <p:sp>
        <p:nvSpPr>
          <p:cNvPr id="252" name="Google Shape;252;p5"/>
          <p:cNvSpPr/>
          <p:nvPr/>
        </p:nvSpPr>
        <p:spPr>
          <a:xfrm>
            <a:off x="4800600" y="2788920"/>
            <a:ext cx="3200400" cy="347472"/>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4800600" y="2788920"/>
            <a:ext cx="3104388" cy="34747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4828032" y="2807208"/>
            <a:ext cx="310896" cy="31089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4828032" y="280720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1</a:t>
            </a:r>
            <a:endParaRPr b="0" i="0" sz="408" u="none" cap="none" strike="noStrike">
              <a:solidFill>
                <a:schemeClr val="dk1"/>
              </a:solidFill>
              <a:latin typeface="Calibri"/>
              <a:ea typeface="Calibri"/>
              <a:cs typeface="Calibri"/>
              <a:sym typeface="Calibri"/>
            </a:endParaRPr>
          </a:p>
        </p:txBody>
      </p:sp>
      <p:sp>
        <p:nvSpPr>
          <p:cNvPr id="256" name="Google Shape;256;p5"/>
          <p:cNvSpPr/>
          <p:nvPr/>
        </p:nvSpPr>
        <p:spPr>
          <a:xfrm>
            <a:off x="5166360" y="2788920"/>
            <a:ext cx="2286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lecture_03_kmeans.pdf</a:t>
            </a:r>
            <a:endParaRPr b="0" i="0" sz="1000" u="none" cap="none" strike="noStrike">
              <a:solidFill>
                <a:schemeClr val="dk1"/>
              </a:solidFill>
              <a:latin typeface="Calibri"/>
              <a:ea typeface="Calibri"/>
              <a:cs typeface="Calibri"/>
              <a:sym typeface="Calibri"/>
            </a:endParaRPr>
          </a:p>
        </p:txBody>
      </p:sp>
      <p:sp>
        <p:nvSpPr>
          <p:cNvPr id="257" name="Google Shape;257;p5"/>
          <p:cNvSpPr/>
          <p:nvPr/>
        </p:nvSpPr>
        <p:spPr>
          <a:xfrm>
            <a:off x="7882128" y="2788920"/>
            <a:ext cx="457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97%</a:t>
            </a:r>
            <a:endParaRPr b="0" i="0" sz="1000" u="none" cap="none" strike="noStrike">
              <a:solidFill>
                <a:schemeClr val="dk1"/>
              </a:solidFill>
              <a:latin typeface="Calibri"/>
              <a:ea typeface="Calibri"/>
              <a:cs typeface="Calibri"/>
              <a:sym typeface="Calibri"/>
            </a:endParaRPr>
          </a:p>
        </p:txBody>
      </p:sp>
      <p:sp>
        <p:nvSpPr>
          <p:cNvPr id="258" name="Google Shape;258;p5"/>
          <p:cNvSpPr/>
          <p:nvPr/>
        </p:nvSpPr>
        <p:spPr>
          <a:xfrm>
            <a:off x="4800600" y="3264408"/>
            <a:ext cx="3200400" cy="347472"/>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4800600" y="3264408"/>
            <a:ext cx="2976372" cy="34747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4828032" y="3282696"/>
            <a:ext cx="310896" cy="31089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4828032" y="328269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2</a:t>
            </a:r>
            <a:endParaRPr b="0" i="0" sz="408" u="none" cap="none" strike="noStrike">
              <a:solidFill>
                <a:schemeClr val="dk1"/>
              </a:solidFill>
              <a:latin typeface="Calibri"/>
              <a:ea typeface="Calibri"/>
              <a:cs typeface="Calibri"/>
              <a:sym typeface="Calibri"/>
            </a:endParaRPr>
          </a:p>
        </p:txBody>
      </p:sp>
      <p:sp>
        <p:nvSpPr>
          <p:cNvPr id="262" name="Google Shape;262;p5"/>
          <p:cNvSpPr/>
          <p:nvPr/>
        </p:nvSpPr>
        <p:spPr>
          <a:xfrm>
            <a:off x="5166360" y="3264408"/>
            <a:ext cx="2286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R_demo_cluster.R</a:t>
            </a:r>
            <a:endParaRPr b="0" i="0" sz="1000" u="none" cap="none" strike="noStrike">
              <a:solidFill>
                <a:schemeClr val="dk1"/>
              </a:solidFill>
              <a:latin typeface="Calibri"/>
              <a:ea typeface="Calibri"/>
              <a:cs typeface="Calibri"/>
              <a:sym typeface="Calibri"/>
            </a:endParaRPr>
          </a:p>
        </p:txBody>
      </p:sp>
      <p:sp>
        <p:nvSpPr>
          <p:cNvPr id="263" name="Google Shape;263;p5"/>
          <p:cNvSpPr/>
          <p:nvPr/>
        </p:nvSpPr>
        <p:spPr>
          <a:xfrm>
            <a:off x="7882128" y="3264408"/>
            <a:ext cx="457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93%</a:t>
            </a:r>
            <a:endParaRPr b="0" i="0" sz="1000" u="none" cap="none" strike="noStrike">
              <a:solidFill>
                <a:schemeClr val="dk1"/>
              </a:solidFill>
              <a:latin typeface="Calibri"/>
              <a:ea typeface="Calibri"/>
              <a:cs typeface="Calibri"/>
              <a:sym typeface="Calibri"/>
            </a:endParaRPr>
          </a:p>
        </p:txBody>
      </p:sp>
      <p:sp>
        <p:nvSpPr>
          <p:cNvPr id="264" name="Google Shape;264;p5"/>
          <p:cNvSpPr/>
          <p:nvPr/>
        </p:nvSpPr>
        <p:spPr>
          <a:xfrm>
            <a:off x="4800600" y="3739896"/>
            <a:ext cx="3200400" cy="347472"/>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4800600" y="3739896"/>
            <a:ext cx="2816352" cy="34747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4828032" y="3758184"/>
            <a:ext cx="310896" cy="31089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4828032" y="375818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3</a:t>
            </a:r>
            <a:endParaRPr b="0" i="0" sz="408" u="none" cap="none" strike="noStrike">
              <a:solidFill>
                <a:schemeClr val="dk1"/>
              </a:solidFill>
              <a:latin typeface="Calibri"/>
              <a:ea typeface="Calibri"/>
              <a:cs typeface="Calibri"/>
              <a:sym typeface="Calibri"/>
            </a:endParaRPr>
          </a:p>
        </p:txBody>
      </p:sp>
      <p:sp>
        <p:nvSpPr>
          <p:cNvPr id="268" name="Google Shape;268;p5"/>
          <p:cNvSpPr/>
          <p:nvPr/>
        </p:nvSpPr>
        <p:spPr>
          <a:xfrm>
            <a:off x="5166360" y="3739896"/>
            <a:ext cx="2286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lecture_07_pca.pdf</a:t>
            </a:r>
            <a:endParaRPr b="0" i="0" sz="1000" u="none" cap="none" strike="noStrike">
              <a:solidFill>
                <a:schemeClr val="dk1"/>
              </a:solidFill>
              <a:latin typeface="Calibri"/>
              <a:ea typeface="Calibri"/>
              <a:cs typeface="Calibri"/>
              <a:sym typeface="Calibri"/>
            </a:endParaRPr>
          </a:p>
        </p:txBody>
      </p:sp>
      <p:sp>
        <p:nvSpPr>
          <p:cNvPr id="269" name="Google Shape;269;p5"/>
          <p:cNvSpPr/>
          <p:nvPr/>
        </p:nvSpPr>
        <p:spPr>
          <a:xfrm>
            <a:off x="7882128" y="3739896"/>
            <a:ext cx="457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88%</a:t>
            </a:r>
            <a:endParaRPr b="0" i="0" sz="1000" u="none" cap="none" strike="noStrike">
              <a:solidFill>
                <a:schemeClr val="dk1"/>
              </a:solidFill>
              <a:latin typeface="Calibri"/>
              <a:ea typeface="Calibri"/>
              <a:cs typeface="Calibri"/>
              <a:sym typeface="Calibri"/>
            </a:endParaRPr>
          </a:p>
        </p:txBody>
      </p:sp>
      <p:sp>
        <p:nvSpPr>
          <p:cNvPr id="270" name="Google Shape;270;p5"/>
          <p:cNvSpPr/>
          <p:nvPr/>
        </p:nvSpPr>
        <p:spPr>
          <a:xfrm>
            <a:off x="4800600" y="4215384"/>
            <a:ext cx="3200400" cy="347472"/>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4800600" y="4215384"/>
            <a:ext cx="2592324" cy="347472"/>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4828032" y="4233672"/>
            <a:ext cx="310896" cy="310896"/>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4828032" y="423367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4</a:t>
            </a:r>
            <a:endParaRPr b="0" i="0" sz="408" u="none" cap="none" strike="noStrike">
              <a:solidFill>
                <a:schemeClr val="dk1"/>
              </a:solidFill>
              <a:latin typeface="Calibri"/>
              <a:ea typeface="Calibri"/>
              <a:cs typeface="Calibri"/>
              <a:sym typeface="Calibri"/>
            </a:endParaRPr>
          </a:p>
        </p:txBody>
      </p:sp>
      <p:sp>
        <p:nvSpPr>
          <p:cNvPr id="274" name="Google Shape;274;p5"/>
          <p:cNvSpPr/>
          <p:nvPr/>
        </p:nvSpPr>
        <p:spPr>
          <a:xfrm>
            <a:off x="5166360" y="4215384"/>
            <a:ext cx="22860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pca_notes.pdf</a:t>
            </a:r>
            <a:endParaRPr b="0" i="0" sz="1000" u="none" cap="none" strike="noStrike">
              <a:solidFill>
                <a:schemeClr val="dk1"/>
              </a:solidFill>
              <a:latin typeface="Calibri"/>
              <a:ea typeface="Calibri"/>
              <a:cs typeface="Calibri"/>
              <a:sym typeface="Calibri"/>
            </a:endParaRPr>
          </a:p>
        </p:txBody>
      </p:sp>
      <p:sp>
        <p:nvSpPr>
          <p:cNvPr id="275" name="Google Shape;275;p5"/>
          <p:cNvSpPr/>
          <p:nvPr/>
        </p:nvSpPr>
        <p:spPr>
          <a:xfrm>
            <a:off x="7882128" y="4215384"/>
            <a:ext cx="457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000"/>
              <a:buFont typeface="Calibri"/>
              <a:buNone/>
            </a:pPr>
            <a:r>
              <a:rPr b="1" i="0" lang="en-US" sz="1000" u="none" cap="none" strike="noStrike">
                <a:solidFill>
                  <a:srgbClr val="FFFFFF"/>
                </a:solidFill>
                <a:latin typeface="Calibri"/>
                <a:ea typeface="Calibri"/>
                <a:cs typeface="Calibri"/>
                <a:sym typeface="Calibri"/>
              </a:rPr>
              <a:t>81%</a:t>
            </a:r>
            <a:endParaRPr b="0" i="0" sz="1000" u="none" cap="none" strike="noStrike">
              <a:solidFill>
                <a:schemeClr val="dk1"/>
              </a:solidFill>
              <a:latin typeface="Calibri"/>
              <a:ea typeface="Calibri"/>
              <a:cs typeface="Calibri"/>
              <a:sym typeface="Calibri"/>
            </a:endParaRPr>
          </a:p>
        </p:txBody>
      </p:sp>
      <p:sp>
        <p:nvSpPr>
          <p:cNvPr id="276" name="Google Shape;276;p5"/>
          <p:cNvSpPr/>
          <p:nvPr/>
        </p:nvSpPr>
        <p:spPr>
          <a:xfrm>
            <a:off x="4800600" y="4700016"/>
            <a:ext cx="3794760" cy="73152"/>
          </a:xfrm>
          <a:prstGeom prst="rect">
            <a:avLst/>
          </a:prstGeom>
          <a:solidFill>
            <a:srgbClr val="FEE2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4800600" y="4654296"/>
            <a:ext cx="3794760" cy="21945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1C1C"/>
              </a:buClr>
              <a:buSzPts val="900"/>
              <a:buFont typeface="Calibri"/>
              <a:buNone/>
            </a:pPr>
            <a:r>
              <a:rPr b="0" i="1" lang="en-US" sz="900" u="none" cap="none" strike="noStrike">
                <a:solidFill>
                  <a:srgbClr val="B91C1C"/>
                </a:solidFill>
                <a:latin typeface="Calibri"/>
                <a:ea typeface="Calibri"/>
                <a:cs typeface="Calibri"/>
                <a:sym typeface="Calibri"/>
              </a:rPr>
              <a:t>Remaining 6 chunks discarded — not sent to GPT-4o-mini</a:t>
            </a:r>
            <a:endParaRPr b="0" i="0" sz="900" u="none" cap="none" strike="noStrike">
              <a:solidFill>
                <a:schemeClr val="dk1"/>
              </a:solidFill>
              <a:latin typeface="Calibri"/>
              <a:ea typeface="Calibri"/>
              <a:cs typeface="Calibri"/>
              <a:sym typeface="Calibri"/>
            </a:endParaRPr>
          </a:p>
        </p:txBody>
      </p:sp>
      <p:sp>
        <p:nvSpPr>
          <p:cNvPr id="278" name="Google Shape;278;p5"/>
          <p:cNvSpPr/>
          <p:nvPr/>
        </p:nvSpPr>
        <p:spPr>
          <a:xfrm>
            <a:off x="0" y="5001768"/>
            <a:ext cx="9144000" cy="141732"/>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365760" y="5001768"/>
            <a:ext cx="6400800" cy="1417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Cross-Encoder Reranking</a:t>
            </a:r>
            <a:endParaRPr b="0" i="0" sz="800" u="none" cap="none" strike="noStrike">
              <a:solidFill>
                <a:schemeClr val="dk1"/>
              </a:solidFill>
              <a:latin typeface="Calibri"/>
              <a:ea typeface="Calibri"/>
              <a:cs typeface="Calibri"/>
              <a:sym typeface="Calibri"/>
            </a:endParaRPr>
          </a:p>
        </p:txBody>
      </p:sp>
      <p:sp>
        <p:nvSpPr>
          <p:cNvPr id="280" name="Google Shape;280;p5"/>
          <p:cNvSpPr/>
          <p:nvPr/>
        </p:nvSpPr>
        <p:spPr>
          <a:xfrm>
            <a:off x="8229600" y="5001768"/>
            <a:ext cx="640080" cy="1417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5 /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g3c5b8531bf5_0_0"/>
          <p:cNvSpPr/>
          <p:nvPr/>
        </p:nvSpPr>
        <p:spPr>
          <a:xfrm>
            <a:off x="4564377" y="117925"/>
            <a:ext cx="4069200" cy="3246000"/>
          </a:xfrm>
          <a:prstGeom prst="rect">
            <a:avLst/>
          </a:prstGeom>
          <a:solidFill>
            <a:srgbClr val="FFFFFF"/>
          </a:solidFill>
          <a:ln>
            <a:noFill/>
          </a:ln>
          <a:effectLst>
            <a:outerShdw blurRad="63500" rotWithShape="0" algn="bl" dir="8100000" dist="25400">
              <a:srgbClr val="000000">
                <a:alpha val="70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g3c5b8531bf5_0_0"/>
          <p:cNvSpPr/>
          <p:nvPr/>
        </p:nvSpPr>
        <p:spPr>
          <a:xfrm>
            <a:off x="4564377" y="117925"/>
            <a:ext cx="4069200" cy="3474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c5b8531bf5_0_0"/>
          <p:cNvSpPr/>
          <p:nvPr/>
        </p:nvSpPr>
        <p:spPr>
          <a:xfrm>
            <a:off x="4701538" y="117925"/>
            <a:ext cx="3840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Trebuchet MS"/>
              <a:buNone/>
            </a:pPr>
            <a:r>
              <a:t/>
            </a:r>
            <a:endParaRPr b="0" i="0" sz="1100" u="none" cap="none" strike="noStrike">
              <a:solidFill>
                <a:schemeClr val="dk1"/>
              </a:solidFill>
              <a:latin typeface="Calibri"/>
              <a:ea typeface="Calibri"/>
              <a:cs typeface="Calibri"/>
              <a:sym typeface="Calibri"/>
            </a:endParaRPr>
          </a:p>
        </p:txBody>
      </p:sp>
      <p:sp>
        <p:nvSpPr>
          <p:cNvPr id="289" name="Google Shape;289;g3c5b8531bf5_0_0"/>
          <p:cNvSpPr/>
          <p:nvPr/>
        </p:nvSpPr>
        <p:spPr>
          <a:xfrm>
            <a:off x="0" y="0"/>
            <a:ext cx="3657600" cy="514350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c5b8531bf5_0_0"/>
          <p:cNvSpPr/>
          <p:nvPr/>
        </p:nvSpPr>
        <p:spPr>
          <a:xfrm>
            <a:off x="-731520" y="3474720"/>
            <a:ext cx="2560200" cy="2560200"/>
          </a:xfrm>
          <a:prstGeom prst="ellipse">
            <a:avLst/>
          </a:prstGeom>
          <a:solidFill>
            <a:srgbClr val="0A2A35"/>
          </a:solidFill>
          <a:ln cap="flat" cmpd="sng" w="12700">
            <a:solidFill>
              <a:srgbClr val="0A2A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c5b8531bf5_0_0"/>
          <p:cNvSpPr/>
          <p:nvPr/>
        </p:nvSpPr>
        <p:spPr>
          <a:xfrm>
            <a:off x="2194560" y="-548640"/>
            <a:ext cx="1828800" cy="1828800"/>
          </a:xfrm>
          <a:prstGeom prst="ellipse">
            <a:avLst/>
          </a:prstGeom>
          <a:solidFill>
            <a:srgbClr val="0D7A8C">
              <a:alpha val="5019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g3c5b8531bf5_0_0"/>
          <p:cNvSpPr/>
          <p:nvPr/>
        </p:nvSpPr>
        <p:spPr>
          <a:xfrm>
            <a:off x="457200" y="1463040"/>
            <a:ext cx="164700" cy="16470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3c5b8531bf5_0_0"/>
          <p:cNvSpPr/>
          <p:nvPr/>
        </p:nvSpPr>
        <p:spPr>
          <a:xfrm>
            <a:off x="822960" y="1463040"/>
            <a:ext cx="109800" cy="109800"/>
          </a:xfrm>
          <a:prstGeom prst="ellipse">
            <a:avLst/>
          </a:prstGeom>
          <a:solidFill>
            <a:srgbClr val="10B98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g3c5b8531bf5_0_0"/>
          <p:cNvSpPr/>
          <p:nvPr/>
        </p:nvSpPr>
        <p:spPr>
          <a:xfrm>
            <a:off x="1097280" y="1463040"/>
            <a:ext cx="73200" cy="73200"/>
          </a:xfrm>
          <a:prstGeom prst="ellipse">
            <a:avLst/>
          </a:prstGeom>
          <a:solidFill>
            <a:srgbClr val="10B981">
              <a:alpha val="349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c5b8531bf5_0_0"/>
          <p:cNvSpPr/>
          <p:nvPr/>
        </p:nvSpPr>
        <p:spPr>
          <a:xfrm>
            <a:off x="320050" y="411475"/>
            <a:ext cx="32109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7200"/>
              <a:buFont typeface="Trebuchet MS"/>
              <a:buNone/>
            </a:pPr>
            <a:r>
              <a:rPr b="1" lang="en-US" sz="3000">
                <a:solidFill>
                  <a:srgbClr val="10B981"/>
                </a:solidFill>
                <a:latin typeface="Trebuchet MS"/>
                <a:ea typeface="Trebuchet MS"/>
                <a:cs typeface="Trebuchet MS"/>
                <a:sym typeface="Trebuchet MS"/>
              </a:rPr>
              <a:t>Render Frontend</a:t>
            </a:r>
            <a:endParaRPr b="0" i="0" sz="3000" u="none" cap="none" strike="noStrike">
              <a:solidFill>
                <a:schemeClr val="dk1"/>
              </a:solidFill>
              <a:latin typeface="Calibri"/>
              <a:ea typeface="Calibri"/>
              <a:cs typeface="Calibri"/>
              <a:sym typeface="Calibri"/>
            </a:endParaRPr>
          </a:p>
        </p:txBody>
      </p:sp>
      <p:sp>
        <p:nvSpPr>
          <p:cNvPr id="296" name="Google Shape;296;g3c5b8531bf5_0_0"/>
          <p:cNvSpPr/>
          <p:nvPr/>
        </p:nvSpPr>
        <p:spPr>
          <a:xfrm>
            <a:off x="320040" y="1539240"/>
            <a:ext cx="3017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Trebuchet MS"/>
              <a:buNone/>
            </a:pPr>
            <a:r>
              <a:rPr b="1" lang="en-US" sz="1900">
                <a:solidFill>
                  <a:srgbClr val="FFFFFF"/>
                </a:solidFill>
                <a:latin typeface="Trebuchet MS"/>
                <a:ea typeface="Trebuchet MS"/>
                <a:cs typeface="Trebuchet MS"/>
                <a:sym typeface="Trebuchet MS"/>
              </a:rPr>
              <a:t>Providing a UI</a:t>
            </a:r>
            <a:endParaRPr b="0" i="0" sz="1900" u="none" cap="none" strike="noStrike">
              <a:solidFill>
                <a:schemeClr val="dk1"/>
              </a:solidFill>
              <a:latin typeface="Calibri"/>
              <a:ea typeface="Calibri"/>
              <a:cs typeface="Calibri"/>
              <a:sym typeface="Calibri"/>
            </a:endParaRPr>
          </a:p>
        </p:txBody>
      </p:sp>
      <p:sp>
        <p:nvSpPr>
          <p:cNvPr id="297" name="Google Shape;297;g3c5b8531bf5_0_0"/>
          <p:cNvSpPr/>
          <p:nvPr/>
        </p:nvSpPr>
        <p:spPr>
          <a:xfrm>
            <a:off x="320040" y="1844040"/>
            <a:ext cx="3017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2200"/>
              <a:buFont typeface="Trebuchet MS"/>
              <a:buNone/>
            </a:pPr>
            <a:r>
              <a:rPr b="1" lang="en-US" sz="1900">
                <a:solidFill>
                  <a:srgbClr val="AADDDA"/>
                </a:solidFill>
                <a:latin typeface="Trebuchet MS"/>
                <a:ea typeface="Trebuchet MS"/>
                <a:cs typeface="Trebuchet MS"/>
                <a:sym typeface="Trebuchet MS"/>
              </a:rPr>
              <a:t>for the Chatbot</a:t>
            </a:r>
            <a:endParaRPr b="0" i="0" sz="1900" u="none" cap="none" strike="noStrike">
              <a:solidFill>
                <a:schemeClr val="dk1"/>
              </a:solidFill>
              <a:latin typeface="Calibri"/>
              <a:ea typeface="Calibri"/>
              <a:cs typeface="Calibri"/>
              <a:sym typeface="Calibri"/>
            </a:endParaRPr>
          </a:p>
        </p:txBody>
      </p:sp>
      <p:sp>
        <p:nvSpPr>
          <p:cNvPr id="298" name="Google Shape;298;g3c5b8531bf5_0_0"/>
          <p:cNvSpPr/>
          <p:nvPr/>
        </p:nvSpPr>
        <p:spPr>
          <a:xfrm>
            <a:off x="320040" y="2304288"/>
            <a:ext cx="1645800" cy="366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c5b8531bf5_0_0"/>
          <p:cNvSpPr/>
          <p:nvPr/>
        </p:nvSpPr>
        <p:spPr>
          <a:xfrm>
            <a:off x="0" y="5001768"/>
            <a:ext cx="9144000" cy="141600"/>
          </a:xfrm>
          <a:prstGeom prst="rect">
            <a:avLst/>
          </a:prstGeom>
          <a:solidFill>
            <a:srgbClr val="0A2A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c5b8531bf5_0_0"/>
          <p:cNvSpPr/>
          <p:nvPr/>
        </p:nvSpPr>
        <p:spPr>
          <a:xfrm>
            <a:off x="365760" y="5001768"/>
            <a:ext cx="8412600" cy="14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7A7E"/>
              </a:buClr>
              <a:buSzPts val="800"/>
              <a:buFont typeface="Calibri"/>
              <a:buNone/>
            </a:pPr>
            <a:r>
              <a:rPr b="0" i="0" lang="en-US" sz="800" u="none" cap="none" strike="noStrike">
                <a:solidFill>
                  <a:srgbClr val="4A7A7E"/>
                </a:solidFill>
                <a:latin typeface="Calibri"/>
                <a:ea typeface="Calibri"/>
                <a:cs typeface="Calibri"/>
                <a:sym typeface="Calibri"/>
              </a:rPr>
              <a:t>RAG Test Maker Chatbot  //  Unsupervised Learning</a:t>
            </a:r>
            <a:endParaRPr b="0" i="0" sz="800" u="none" cap="none" strike="noStrike">
              <a:solidFill>
                <a:schemeClr val="dk1"/>
              </a:solidFill>
              <a:latin typeface="Calibri"/>
              <a:ea typeface="Calibri"/>
              <a:cs typeface="Calibri"/>
              <a:sym typeface="Calibri"/>
            </a:endParaRPr>
          </a:p>
        </p:txBody>
      </p:sp>
      <p:sp>
        <p:nvSpPr>
          <p:cNvPr id="301" name="Google Shape;301;g3c5b8531bf5_0_0"/>
          <p:cNvSpPr/>
          <p:nvPr/>
        </p:nvSpPr>
        <p:spPr>
          <a:xfrm>
            <a:off x="7464766" y="2585034"/>
            <a:ext cx="5376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B981"/>
              </a:buClr>
              <a:buSzPts val="1100"/>
              <a:buFont typeface="Calibri"/>
              <a:buNone/>
            </a:pPr>
            <a:r>
              <a:rPr b="0" i="0" lang="en-US" sz="4000" u="none" cap="none" strike="noStrike">
                <a:solidFill>
                  <a:srgbClr val="10B981"/>
                </a:solidFill>
                <a:latin typeface="Calibri"/>
                <a:ea typeface="Calibri"/>
                <a:cs typeface="Calibri"/>
                <a:sym typeface="Calibri"/>
              </a:rPr>
              <a:t>▶</a:t>
            </a:r>
            <a:endParaRPr b="0" i="0" sz="4000" u="none" cap="none" strike="noStrike">
              <a:solidFill>
                <a:schemeClr val="dk1"/>
              </a:solidFill>
              <a:latin typeface="Calibri"/>
              <a:ea typeface="Calibri"/>
              <a:cs typeface="Calibri"/>
              <a:sym typeface="Calibri"/>
            </a:endParaRPr>
          </a:p>
        </p:txBody>
      </p:sp>
      <p:sp>
        <p:nvSpPr>
          <p:cNvPr id="302" name="Google Shape;302;g3c5b8531bf5_0_0"/>
          <p:cNvSpPr/>
          <p:nvPr/>
        </p:nvSpPr>
        <p:spPr>
          <a:xfrm>
            <a:off x="4735938" y="616730"/>
            <a:ext cx="3200400" cy="34740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g3c5b8531bf5_0_0"/>
          <p:cNvSpPr/>
          <p:nvPr/>
        </p:nvSpPr>
        <p:spPr>
          <a:xfrm>
            <a:off x="4735938" y="616730"/>
            <a:ext cx="3104400" cy="3474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c5b8531bf5_0_0"/>
          <p:cNvSpPr/>
          <p:nvPr/>
        </p:nvSpPr>
        <p:spPr>
          <a:xfrm>
            <a:off x="4763370" y="635018"/>
            <a:ext cx="310800" cy="310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g3c5b8531bf5_0_0"/>
          <p:cNvSpPr/>
          <p:nvPr/>
        </p:nvSpPr>
        <p:spPr>
          <a:xfrm>
            <a:off x="4763370" y="635018"/>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1</a:t>
            </a:r>
            <a:endParaRPr b="0" i="0" sz="408" u="none" cap="none" strike="noStrike">
              <a:solidFill>
                <a:schemeClr val="dk1"/>
              </a:solidFill>
              <a:latin typeface="Calibri"/>
              <a:ea typeface="Calibri"/>
              <a:cs typeface="Calibri"/>
              <a:sym typeface="Calibri"/>
            </a:endParaRPr>
          </a:p>
        </p:txBody>
      </p:sp>
      <p:sp>
        <p:nvSpPr>
          <p:cNvPr id="306" name="Google Shape;306;g3c5b8531bf5_0_0"/>
          <p:cNvSpPr/>
          <p:nvPr/>
        </p:nvSpPr>
        <p:spPr>
          <a:xfrm>
            <a:off x="5101701" y="616735"/>
            <a:ext cx="2738700" cy="3474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600"/>
              </a:spcBef>
              <a:spcAft>
                <a:spcPts val="600"/>
              </a:spcAft>
              <a:buClr>
                <a:schemeClr val="dk1"/>
              </a:buClr>
              <a:buSzPts val="1100"/>
              <a:buFont typeface="Arial"/>
              <a:buNone/>
            </a:pPr>
            <a:r>
              <a:rPr b="1" lang="en-US" sz="1000">
                <a:solidFill>
                  <a:schemeClr val="lt1"/>
                </a:solidFill>
                <a:latin typeface="Calibri"/>
                <a:ea typeface="Calibri"/>
                <a:cs typeface="Calibri"/>
                <a:sym typeface="Calibri"/>
              </a:rPr>
              <a:t>Built dynamic frontend in HTML/CSS/JavaScript</a:t>
            </a:r>
            <a:endParaRPr b="1" sz="1000">
              <a:solidFill>
                <a:srgbClr val="FFFFFF"/>
              </a:solidFill>
              <a:latin typeface="Calibri"/>
              <a:ea typeface="Calibri"/>
              <a:cs typeface="Calibri"/>
              <a:sym typeface="Calibri"/>
            </a:endParaRPr>
          </a:p>
        </p:txBody>
      </p:sp>
      <p:sp>
        <p:nvSpPr>
          <p:cNvPr id="307" name="Google Shape;307;g3c5b8531bf5_0_0"/>
          <p:cNvSpPr/>
          <p:nvPr/>
        </p:nvSpPr>
        <p:spPr>
          <a:xfrm>
            <a:off x="4735938" y="1092218"/>
            <a:ext cx="3200400" cy="34740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c5b8531bf5_0_0"/>
          <p:cNvSpPr/>
          <p:nvPr/>
        </p:nvSpPr>
        <p:spPr>
          <a:xfrm>
            <a:off x="4735951" y="1092225"/>
            <a:ext cx="3104400" cy="3474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c5b8531bf5_0_0"/>
          <p:cNvSpPr/>
          <p:nvPr/>
        </p:nvSpPr>
        <p:spPr>
          <a:xfrm>
            <a:off x="4763370" y="1110506"/>
            <a:ext cx="310800" cy="310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c5b8531bf5_0_0"/>
          <p:cNvSpPr/>
          <p:nvPr/>
        </p:nvSpPr>
        <p:spPr>
          <a:xfrm>
            <a:off x="4763370" y="1110506"/>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2</a:t>
            </a:r>
            <a:endParaRPr b="0" i="0" sz="408" u="none" cap="none" strike="noStrike">
              <a:solidFill>
                <a:schemeClr val="dk1"/>
              </a:solidFill>
              <a:latin typeface="Calibri"/>
              <a:ea typeface="Calibri"/>
              <a:cs typeface="Calibri"/>
              <a:sym typeface="Calibri"/>
            </a:endParaRPr>
          </a:p>
        </p:txBody>
      </p:sp>
      <p:sp>
        <p:nvSpPr>
          <p:cNvPr id="311" name="Google Shape;311;g3c5b8531bf5_0_0"/>
          <p:cNvSpPr/>
          <p:nvPr/>
        </p:nvSpPr>
        <p:spPr>
          <a:xfrm>
            <a:off x="5101697" y="1092218"/>
            <a:ext cx="2286000" cy="347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1"/>
              </a:buClr>
              <a:buSzPts val="1000"/>
              <a:buFont typeface="Calibri"/>
              <a:buNone/>
            </a:pPr>
            <a:r>
              <a:rPr b="1" lang="en-US" sz="1000">
                <a:solidFill>
                  <a:schemeClr val="lt1"/>
                </a:solidFill>
                <a:latin typeface="Calibri"/>
                <a:ea typeface="Calibri"/>
                <a:cs typeface="Calibri"/>
                <a:sym typeface="Calibri"/>
              </a:rPr>
              <a:t>Containerized app with Docker, Configured Gunicorn</a:t>
            </a:r>
            <a:endParaRPr b="0" i="0" sz="1000" u="none" cap="none" strike="noStrike">
              <a:solidFill>
                <a:schemeClr val="dk1"/>
              </a:solidFill>
              <a:latin typeface="Calibri"/>
              <a:ea typeface="Calibri"/>
              <a:cs typeface="Calibri"/>
              <a:sym typeface="Calibri"/>
            </a:endParaRPr>
          </a:p>
        </p:txBody>
      </p:sp>
      <p:sp>
        <p:nvSpPr>
          <p:cNvPr id="312" name="Google Shape;312;g3c5b8531bf5_0_0"/>
          <p:cNvSpPr/>
          <p:nvPr/>
        </p:nvSpPr>
        <p:spPr>
          <a:xfrm>
            <a:off x="4735938" y="1567706"/>
            <a:ext cx="3200400" cy="34740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3c5b8531bf5_0_0"/>
          <p:cNvSpPr/>
          <p:nvPr/>
        </p:nvSpPr>
        <p:spPr>
          <a:xfrm>
            <a:off x="4735951" y="1567700"/>
            <a:ext cx="3104400" cy="3474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3c5b8531bf5_0_0"/>
          <p:cNvSpPr/>
          <p:nvPr/>
        </p:nvSpPr>
        <p:spPr>
          <a:xfrm>
            <a:off x="4763370" y="1585994"/>
            <a:ext cx="310800" cy="310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c5b8531bf5_0_0"/>
          <p:cNvSpPr/>
          <p:nvPr/>
        </p:nvSpPr>
        <p:spPr>
          <a:xfrm>
            <a:off x="4763370" y="1585994"/>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3</a:t>
            </a:r>
            <a:endParaRPr b="0" i="0" sz="408" u="none" cap="none" strike="noStrike">
              <a:solidFill>
                <a:schemeClr val="dk1"/>
              </a:solidFill>
              <a:latin typeface="Calibri"/>
              <a:ea typeface="Calibri"/>
              <a:cs typeface="Calibri"/>
              <a:sym typeface="Calibri"/>
            </a:endParaRPr>
          </a:p>
        </p:txBody>
      </p:sp>
      <p:sp>
        <p:nvSpPr>
          <p:cNvPr id="316" name="Google Shape;316;g3c5b8531bf5_0_0"/>
          <p:cNvSpPr/>
          <p:nvPr/>
        </p:nvSpPr>
        <p:spPr>
          <a:xfrm>
            <a:off x="5056050" y="1506235"/>
            <a:ext cx="1952100" cy="3474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600"/>
              </a:spcBef>
              <a:spcAft>
                <a:spcPts val="600"/>
              </a:spcAft>
              <a:buClr>
                <a:schemeClr val="dk1"/>
              </a:buClr>
              <a:buSzPts val="1100"/>
              <a:buFont typeface="Arial"/>
              <a:buNone/>
            </a:pPr>
            <a:r>
              <a:rPr b="1" lang="en-US" sz="1000">
                <a:solidFill>
                  <a:schemeClr val="lt1"/>
                </a:solidFill>
                <a:latin typeface="Calibri"/>
                <a:ea typeface="Calibri"/>
                <a:cs typeface="Calibri"/>
                <a:sym typeface="Calibri"/>
              </a:rPr>
              <a:t>A</a:t>
            </a:r>
            <a:r>
              <a:rPr b="1" lang="en-US" sz="1000">
                <a:solidFill>
                  <a:schemeClr val="lt1"/>
                </a:solidFill>
                <a:latin typeface="Calibri"/>
                <a:ea typeface="Calibri"/>
                <a:cs typeface="Calibri"/>
                <a:sym typeface="Calibri"/>
              </a:rPr>
              <a:t>dded health checks,</a:t>
            </a:r>
            <a:endParaRPr b="0" i="0" sz="1000" u="none" cap="none" strike="noStrike">
              <a:solidFill>
                <a:schemeClr val="dk1"/>
              </a:solidFill>
              <a:latin typeface="Calibri"/>
              <a:ea typeface="Calibri"/>
              <a:cs typeface="Calibri"/>
              <a:sym typeface="Calibri"/>
            </a:endParaRPr>
          </a:p>
        </p:txBody>
      </p:sp>
      <p:sp>
        <p:nvSpPr>
          <p:cNvPr id="317" name="Google Shape;317;g3c5b8531bf5_0_0"/>
          <p:cNvSpPr/>
          <p:nvPr/>
        </p:nvSpPr>
        <p:spPr>
          <a:xfrm>
            <a:off x="4735938" y="2043194"/>
            <a:ext cx="3200400" cy="347400"/>
          </a:xfrm>
          <a:prstGeom prst="rect">
            <a:avLst/>
          </a:prstGeom>
          <a:solidFill>
            <a:srgbClr val="D1FA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g3c5b8531bf5_0_0"/>
          <p:cNvSpPr/>
          <p:nvPr/>
        </p:nvSpPr>
        <p:spPr>
          <a:xfrm>
            <a:off x="4735952" y="2043200"/>
            <a:ext cx="3104400" cy="3474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c5b8531bf5_0_0"/>
          <p:cNvSpPr/>
          <p:nvPr/>
        </p:nvSpPr>
        <p:spPr>
          <a:xfrm>
            <a:off x="4763370" y="2061482"/>
            <a:ext cx="310800" cy="310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3c5b8531bf5_0_0"/>
          <p:cNvSpPr/>
          <p:nvPr/>
        </p:nvSpPr>
        <p:spPr>
          <a:xfrm>
            <a:off x="4763370" y="2061482"/>
            <a:ext cx="310800" cy="31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408"/>
              <a:buFont typeface="Trebuchet MS"/>
              <a:buNone/>
            </a:pPr>
            <a:r>
              <a:rPr b="1" i="0" lang="en-US" sz="408" u="none" cap="none" strike="noStrike">
                <a:solidFill>
                  <a:srgbClr val="1E3A5F"/>
                </a:solidFill>
                <a:latin typeface="Trebuchet MS"/>
                <a:ea typeface="Trebuchet MS"/>
                <a:cs typeface="Trebuchet MS"/>
                <a:sym typeface="Trebuchet MS"/>
              </a:rPr>
              <a:t>4</a:t>
            </a:r>
            <a:endParaRPr b="0" i="0" sz="408" u="none" cap="none" strike="noStrike">
              <a:solidFill>
                <a:schemeClr val="dk1"/>
              </a:solidFill>
              <a:latin typeface="Calibri"/>
              <a:ea typeface="Calibri"/>
              <a:cs typeface="Calibri"/>
              <a:sym typeface="Calibri"/>
            </a:endParaRPr>
          </a:p>
        </p:txBody>
      </p:sp>
      <p:sp>
        <p:nvSpPr>
          <p:cNvPr id="321" name="Google Shape;321;g3c5b8531bf5_0_0"/>
          <p:cNvSpPr/>
          <p:nvPr/>
        </p:nvSpPr>
        <p:spPr>
          <a:xfrm>
            <a:off x="5101700" y="2186550"/>
            <a:ext cx="2738700" cy="3474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600"/>
              </a:spcBef>
              <a:spcAft>
                <a:spcPts val="0"/>
              </a:spcAft>
              <a:buClr>
                <a:schemeClr val="dk1"/>
              </a:buClr>
              <a:buSzPts val="1100"/>
              <a:buFont typeface="Arial"/>
              <a:buNone/>
            </a:pPr>
            <a:r>
              <a:rPr b="1" lang="en-US" sz="1000">
                <a:solidFill>
                  <a:schemeClr val="lt1"/>
                </a:solidFill>
                <a:latin typeface="Calibri"/>
                <a:ea typeface="Calibri"/>
                <a:cs typeface="Calibri"/>
                <a:sym typeface="Calibri"/>
              </a:rPr>
              <a:t>C</a:t>
            </a:r>
            <a:r>
              <a:rPr b="1" lang="en-US" sz="1000">
                <a:solidFill>
                  <a:schemeClr val="lt1"/>
                </a:solidFill>
                <a:latin typeface="Calibri"/>
                <a:ea typeface="Calibri"/>
                <a:cs typeface="Calibri"/>
                <a:sym typeface="Calibri"/>
              </a:rPr>
              <a:t>onnected persistent storage for vector data</a:t>
            </a:r>
            <a:endParaRPr>
              <a:solidFill>
                <a:schemeClr val="dk1"/>
              </a:solidFill>
            </a:endParaRPr>
          </a:p>
          <a:p>
            <a:pPr indent="0" lvl="0" marL="0" marR="0" rtl="0" algn="l">
              <a:spcBef>
                <a:spcPts val="600"/>
              </a:spcBef>
              <a:spcAft>
                <a:spcPts val="0"/>
              </a:spcAft>
              <a:buClr>
                <a:srgbClr val="FFFFFF"/>
              </a:buClr>
              <a:buSzPts val="1000"/>
              <a:buFont typeface="Calibri"/>
              <a:buNone/>
            </a:pPr>
            <a:r>
              <a:t/>
            </a:r>
            <a:endParaRPr b="1" sz="1000">
              <a:solidFill>
                <a:srgbClr val="FFFFFF"/>
              </a:solidFill>
              <a:latin typeface="Calibri"/>
              <a:ea typeface="Calibri"/>
              <a:cs typeface="Calibri"/>
              <a:sym typeface="Calibri"/>
            </a:endParaRPr>
          </a:p>
        </p:txBody>
      </p:sp>
      <p:sp>
        <p:nvSpPr>
          <p:cNvPr id="322" name="Google Shape;322;g3c5b8531bf5_0_0"/>
          <p:cNvSpPr/>
          <p:nvPr/>
        </p:nvSpPr>
        <p:spPr>
          <a:xfrm>
            <a:off x="5048682" y="1662826"/>
            <a:ext cx="2109000" cy="347400"/>
          </a:xfrm>
          <a:prstGeom prst="rect">
            <a:avLst/>
          </a:prstGeom>
          <a:noFill/>
          <a:ln>
            <a:noFill/>
          </a:ln>
        </p:spPr>
        <p:txBody>
          <a:bodyPr anchorCtr="0" anchor="ctr" bIns="45700" lIns="91425" spcFirstLastPara="1" rIns="91425" wrap="square" tIns="45700">
            <a:noAutofit/>
          </a:bodyPr>
          <a:lstStyle/>
          <a:p>
            <a:pPr indent="0" lvl="0" marL="0" rtl="0" algn="just">
              <a:lnSpc>
                <a:spcPct val="150000"/>
              </a:lnSpc>
              <a:spcBef>
                <a:spcPts val="600"/>
              </a:spcBef>
              <a:spcAft>
                <a:spcPts val="600"/>
              </a:spcAft>
              <a:buClr>
                <a:schemeClr val="dk1"/>
              </a:buClr>
              <a:buSzPts val="1100"/>
              <a:buFont typeface="Arial"/>
              <a:buNone/>
            </a:pPr>
            <a:r>
              <a:rPr b="1" lang="en-US" sz="1000">
                <a:solidFill>
                  <a:schemeClr val="lt1"/>
                </a:solidFill>
                <a:latin typeface="Calibri"/>
                <a:ea typeface="Calibri"/>
                <a:cs typeface="Calibri"/>
                <a:sym typeface="Calibri"/>
              </a:rPr>
              <a:t>C</a:t>
            </a:r>
            <a:r>
              <a:rPr b="1" lang="en-US" sz="1000">
                <a:solidFill>
                  <a:schemeClr val="lt1"/>
                </a:solidFill>
                <a:latin typeface="Calibri"/>
                <a:ea typeface="Calibri"/>
                <a:cs typeface="Calibri"/>
                <a:sym typeface="Calibri"/>
              </a:rPr>
              <a:t>onfigured environment variables</a:t>
            </a:r>
            <a:endParaRPr b="0" i="0" sz="1000" u="none" cap="none" strike="noStrike">
              <a:solidFill>
                <a:schemeClr val="dk1"/>
              </a:solidFill>
              <a:latin typeface="Calibri"/>
              <a:ea typeface="Calibri"/>
              <a:cs typeface="Calibri"/>
              <a:sym typeface="Calibri"/>
            </a:endParaRPr>
          </a:p>
        </p:txBody>
      </p:sp>
      <p:sp>
        <p:nvSpPr>
          <p:cNvPr id="323" name="Google Shape;323;g3c5b8531bf5_0_0"/>
          <p:cNvSpPr/>
          <p:nvPr/>
        </p:nvSpPr>
        <p:spPr>
          <a:xfrm>
            <a:off x="4763375" y="2403682"/>
            <a:ext cx="32109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7200"/>
              <a:buFont typeface="Trebuchet MS"/>
              <a:buNone/>
            </a:pPr>
            <a:r>
              <a:rPr b="1" lang="en-US" sz="3000" u="sng">
                <a:solidFill>
                  <a:srgbClr val="10B981"/>
                </a:solidFill>
                <a:latin typeface="Trebuchet MS"/>
                <a:ea typeface="Trebuchet MS"/>
                <a:cs typeface="Trebuchet MS"/>
                <a:sym typeface="Trebuchet MS"/>
                <a:hlinkClick r:id="rId3">
                  <a:extLst>
                    <a:ext uri="{A12FA001-AC4F-418D-AE19-62706E023703}">
                      <ahyp:hlinkClr val="tx"/>
                    </a:ext>
                  </a:extLst>
                </a:hlinkClick>
              </a:rPr>
              <a:t>Live Demo</a:t>
            </a:r>
            <a:endParaRPr b="0" i="0" sz="3000" u="sng" cap="none" strike="noStrike">
              <a:solidFill>
                <a:schemeClr val="dk1"/>
              </a:solidFill>
              <a:latin typeface="Calibri"/>
              <a:ea typeface="Calibri"/>
              <a:cs typeface="Calibri"/>
              <a:sym typeface="Calibri"/>
            </a:endParaRPr>
          </a:p>
        </p:txBody>
      </p:sp>
      <p:sp>
        <p:nvSpPr>
          <p:cNvPr id="324" name="Google Shape;324;g3c5b8531bf5_0_0"/>
          <p:cNvSpPr/>
          <p:nvPr/>
        </p:nvSpPr>
        <p:spPr>
          <a:xfrm>
            <a:off x="7008150" y="2811387"/>
            <a:ext cx="641100" cy="141600"/>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c5b8531bf5_0_0"/>
          <p:cNvSpPr/>
          <p:nvPr/>
        </p:nvSpPr>
        <p:spPr>
          <a:xfrm>
            <a:off x="4594465" y="20243"/>
            <a:ext cx="3017400" cy="502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400"/>
              <a:buFont typeface="Trebuchet MS"/>
              <a:buNone/>
            </a:pPr>
            <a:r>
              <a:rPr b="1" lang="en-US" sz="1900">
                <a:solidFill>
                  <a:srgbClr val="FFFFFF"/>
                </a:solidFill>
                <a:latin typeface="Trebuchet MS"/>
                <a:ea typeface="Trebuchet MS"/>
                <a:cs typeface="Trebuchet MS"/>
                <a:sym typeface="Trebuchet MS"/>
              </a:rPr>
              <a:t>Local -&gt; Website</a:t>
            </a:r>
            <a:endParaRPr b="0" i="0" sz="1900" u="none" cap="none" strike="noStrike">
              <a:solidFill>
                <a:schemeClr val="dk1"/>
              </a:solidFill>
              <a:latin typeface="Calibri"/>
              <a:ea typeface="Calibri"/>
              <a:cs typeface="Calibri"/>
              <a:sym typeface="Calibri"/>
            </a:endParaRPr>
          </a:p>
        </p:txBody>
      </p:sp>
      <p:pic>
        <p:nvPicPr>
          <p:cNvPr id="326" name="Google Shape;326;g3c5b8531bf5_0_0"/>
          <p:cNvPicPr preferRelativeResize="0"/>
          <p:nvPr/>
        </p:nvPicPr>
        <p:blipFill rotWithShape="1">
          <a:blip r:embed="rId4">
            <a:alphaModFix/>
          </a:blip>
          <a:srcRect b="0" l="0" r="2997" t="0"/>
          <a:stretch/>
        </p:blipFill>
        <p:spPr>
          <a:xfrm>
            <a:off x="4612425" y="3439050"/>
            <a:ext cx="3104400" cy="1441750"/>
          </a:xfrm>
          <a:prstGeom prst="rect">
            <a:avLst/>
          </a:prstGeom>
          <a:noFill/>
          <a:ln cap="flat" cmpd="sng" w="25400">
            <a:solidFill>
              <a:srgbClr val="666666"/>
            </a:solidFill>
            <a:prstDash val="solid"/>
            <a:miter lim="8000"/>
            <a:headEnd len="sm" w="sm" type="none"/>
            <a:tailEnd len="sm" w="sm" type="none"/>
          </a:ln>
        </p:spPr>
      </p:pic>
      <p:sp>
        <p:nvSpPr>
          <p:cNvPr id="327" name="Google Shape;327;g3c5b8531bf5_0_0"/>
          <p:cNvSpPr/>
          <p:nvPr/>
        </p:nvSpPr>
        <p:spPr>
          <a:xfrm>
            <a:off x="411480" y="164592"/>
            <a:ext cx="1371600" cy="246900"/>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g3c5b8531bf5_0_0"/>
          <p:cNvSpPr/>
          <p:nvPr/>
        </p:nvSpPr>
        <p:spPr>
          <a:xfrm>
            <a:off x="411480" y="164592"/>
            <a:ext cx="137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a:t>
            </a:r>
            <a:r>
              <a:rPr b="1" lang="en-US" sz="800">
                <a:solidFill>
                  <a:srgbClr val="FFFFFF"/>
                </a:solidFill>
                <a:latin typeface="Calibri"/>
                <a:ea typeface="Calibri"/>
                <a:cs typeface="Calibri"/>
                <a:sym typeface="Calibri"/>
              </a:rPr>
              <a:t>3</a:t>
            </a:r>
            <a:r>
              <a:rPr b="1" i="0" lang="en-US" sz="800" u="none" cap="none" strike="noStrike">
                <a:solidFill>
                  <a:srgbClr val="FFFFFF"/>
                </a:solidFill>
                <a:latin typeface="Calibri"/>
                <a:ea typeface="Calibri"/>
                <a:cs typeface="Calibri"/>
                <a:sym typeface="Calibri"/>
              </a:rPr>
              <a:t>  </a:t>
            </a:r>
            <a:r>
              <a:rPr b="1" lang="en-US" sz="800">
                <a:solidFill>
                  <a:srgbClr val="FFFFFF"/>
                </a:solidFill>
                <a:latin typeface="Calibri"/>
                <a:ea typeface="Calibri"/>
                <a:cs typeface="Calibri"/>
                <a:sym typeface="Calibri"/>
              </a:rPr>
              <a:t>UI</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3" name="Shape 333"/>
        <p:cNvGrpSpPr/>
        <p:nvPr/>
      </p:nvGrpSpPr>
      <p:grpSpPr>
        <a:xfrm>
          <a:off x="0" y="0"/>
          <a:ext cx="0" cy="0"/>
          <a:chOff x="0" y="0"/>
          <a:chExt cx="0" cy="0"/>
        </a:xfrm>
      </p:grpSpPr>
      <p:sp>
        <p:nvSpPr>
          <p:cNvPr id="334" name="Google Shape;334;p6"/>
          <p:cNvSpPr/>
          <p:nvPr/>
        </p:nvSpPr>
        <p:spPr>
          <a:xfrm>
            <a:off x="411480" y="164592"/>
            <a:ext cx="1371600" cy="246888"/>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6"/>
          <p:cNvSpPr/>
          <p:nvPr/>
        </p:nvSpPr>
        <p:spPr>
          <a:xfrm>
            <a:off x="411480" y="164592"/>
            <a:ext cx="1371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a:t>
            </a:r>
            <a:r>
              <a:rPr b="1" lang="en-US" sz="800">
                <a:solidFill>
                  <a:srgbClr val="FFFFFF"/>
                </a:solidFill>
                <a:latin typeface="Calibri"/>
                <a:ea typeface="Calibri"/>
                <a:cs typeface="Calibri"/>
                <a:sym typeface="Calibri"/>
              </a:rPr>
              <a:t>4</a:t>
            </a:r>
            <a:r>
              <a:rPr b="1" i="0" lang="en-US" sz="800" u="none" cap="none" strike="noStrike">
                <a:solidFill>
                  <a:srgbClr val="FFFFFF"/>
                </a:solidFill>
                <a:latin typeface="Calibri"/>
                <a:ea typeface="Calibri"/>
                <a:cs typeface="Calibri"/>
                <a:sym typeface="Calibri"/>
              </a:rPr>
              <a:t>  RESULTS</a:t>
            </a:r>
            <a:endParaRPr b="0" i="0" sz="800" u="none" cap="none" strike="noStrike">
              <a:solidFill>
                <a:schemeClr val="dk1"/>
              </a:solidFill>
              <a:latin typeface="Calibri"/>
              <a:ea typeface="Calibri"/>
              <a:cs typeface="Calibri"/>
              <a:sym typeface="Calibri"/>
            </a:endParaRPr>
          </a:p>
        </p:txBody>
      </p:sp>
      <p:sp>
        <p:nvSpPr>
          <p:cNvPr id="336" name="Google Shape;336;p6"/>
          <p:cNvSpPr/>
          <p:nvPr/>
        </p:nvSpPr>
        <p:spPr>
          <a:xfrm>
            <a:off x="411480" y="475488"/>
            <a:ext cx="832104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400"/>
              <a:buFont typeface="Trebuchet MS"/>
              <a:buNone/>
            </a:pPr>
            <a:r>
              <a:rPr b="1" i="0" lang="en-US" sz="3400" u="none" cap="none" strike="noStrike">
                <a:solidFill>
                  <a:srgbClr val="1E3A5F"/>
                </a:solidFill>
                <a:latin typeface="Trebuchet MS"/>
                <a:ea typeface="Trebuchet MS"/>
                <a:cs typeface="Trebuchet MS"/>
                <a:sym typeface="Trebuchet MS"/>
              </a:rPr>
              <a:t>Does It Work?</a:t>
            </a:r>
            <a:endParaRPr b="0" i="0" sz="3400" u="none" cap="none" strike="noStrike">
              <a:solidFill>
                <a:schemeClr val="dk1"/>
              </a:solidFill>
              <a:latin typeface="Calibri"/>
              <a:ea typeface="Calibri"/>
              <a:cs typeface="Calibri"/>
              <a:sym typeface="Calibri"/>
            </a:endParaRPr>
          </a:p>
        </p:txBody>
      </p:sp>
      <p:sp>
        <p:nvSpPr>
          <p:cNvPr id="337" name="Google Shape;337;p6"/>
          <p:cNvSpPr/>
          <p:nvPr/>
        </p:nvSpPr>
        <p:spPr>
          <a:xfrm>
            <a:off x="411480" y="1115568"/>
            <a:ext cx="8321040" cy="402336"/>
          </a:xfrm>
          <a:prstGeom prst="roundRect">
            <a:avLst>
              <a:gd fmla="val 22727" name="adj"/>
            </a:avLst>
          </a:prstGeom>
          <a:solidFill>
            <a:srgbClr val="E8F7F4"/>
          </a:solidFill>
          <a:ln cap="flat" cmpd="sng" w="12700">
            <a:solidFill>
              <a:srgbClr val="B2DE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6"/>
          <p:cNvSpPr/>
          <p:nvPr/>
        </p:nvSpPr>
        <p:spPr>
          <a:xfrm>
            <a:off x="594360" y="1115568"/>
            <a:ext cx="8046720" cy="40233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5E6E"/>
              </a:buClr>
              <a:buSzPts val="1300"/>
              <a:buFont typeface="Calibri"/>
              <a:buNone/>
            </a:pPr>
            <a:r>
              <a:rPr b="1" i="0" lang="en-US" sz="1300" u="none" cap="none" strike="noStrike">
                <a:solidFill>
                  <a:srgbClr val="0B5E6E"/>
                </a:solidFill>
                <a:latin typeface="Calibri"/>
                <a:ea typeface="Calibri"/>
                <a:cs typeface="Calibri"/>
                <a:sym typeface="Calibri"/>
              </a:rPr>
              <a:t>🔎  Test Query:  "mixed conceptual questions"</a:t>
            </a:r>
            <a:endParaRPr b="0" i="0" sz="1300" u="none" cap="none" strike="noStrike">
              <a:solidFill>
                <a:schemeClr val="dk1"/>
              </a:solidFill>
              <a:latin typeface="Calibri"/>
              <a:ea typeface="Calibri"/>
              <a:cs typeface="Calibri"/>
              <a:sym typeface="Calibri"/>
            </a:endParaRPr>
          </a:p>
        </p:txBody>
      </p:sp>
      <p:sp>
        <p:nvSpPr>
          <p:cNvPr id="339" name="Google Shape;339;p6"/>
          <p:cNvSpPr/>
          <p:nvPr/>
        </p:nvSpPr>
        <p:spPr>
          <a:xfrm>
            <a:off x="411480" y="1664208"/>
            <a:ext cx="4023360" cy="3017520"/>
          </a:xfrm>
          <a:prstGeom prst="rect">
            <a:avLst/>
          </a:prstGeom>
          <a:solidFill>
            <a:srgbClr val="FFFFFF"/>
          </a:solidFill>
          <a:ln>
            <a:noFill/>
          </a:ln>
          <a:effectLst>
            <a:outerShdw blurRad="635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
          <p:cNvSpPr/>
          <p:nvPr/>
        </p:nvSpPr>
        <p:spPr>
          <a:xfrm>
            <a:off x="411480" y="1664208"/>
            <a:ext cx="4023360" cy="384048"/>
          </a:xfrm>
          <a:prstGeom prst="rect">
            <a:avLst/>
          </a:prstGeom>
          <a:solidFill>
            <a:srgbClr val="DC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p:nvPr/>
        </p:nvSpPr>
        <p:spPr>
          <a:xfrm>
            <a:off x="548640" y="1664208"/>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Without Reranking</a:t>
            </a:r>
            <a:endParaRPr b="0" i="0" sz="1300" u="none" cap="none" strike="noStrike">
              <a:solidFill>
                <a:schemeClr val="dk1"/>
              </a:solidFill>
              <a:latin typeface="Calibri"/>
              <a:ea typeface="Calibri"/>
              <a:cs typeface="Calibri"/>
              <a:sym typeface="Calibri"/>
            </a:endParaRPr>
          </a:p>
        </p:txBody>
      </p:sp>
      <p:sp>
        <p:nvSpPr>
          <p:cNvPr id="342" name="Google Shape;342;p6"/>
          <p:cNvSpPr/>
          <p:nvPr/>
        </p:nvSpPr>
        <p:spPr>
          <a:xfrm>
            <a:off x="566928" y="21305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Q1: What is Simpson's Paradox and why does it matter in data analysis?</a:t>
            </a:r>
            <a:endParaRPr b="0" i="0" sz="1100" u="none" cap="none" strike="noStrike">
              <a:solidFill>
                <a:schemeClr val="dk1"/>
              </a:solidFill>
              <a:latin typeface="Calibri"/>
              <a:ea typeface="Calibri"/>
              <a:cs typeface="Calibri"/>
              <a:sym typeface="Calibri"/>
            </a:endParaRPr>
          </a:p>
        </p:txBody>
      </p:sp>
      <p:sp>
        <p:nvSpPr>
          <p:cNvPr id="343" name="Google Shape;343;p6"/>
          <p:cNvSpPr/>
          <p:nvPr/>
        </p:nvSpPr>
        <p:spPr>
          <a:xfrm>
            <a:off x="566928" y="25877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Q2: In a marketing campaign, explain conversion rates using regression.</a:t>
            </a:r>
            <a:endParaRPr b="0" i="0" sz="1100" u="none" cap="none" strike="noStrike">
              <a:solidFill>
                <a:schemeClr val="dk1"/>
              </a:solidFill>
              <a:latin typeface="Calibri"/>
              <a:ea typeface="Calibri"/>
              <a:cs typeface="Calibri"/>
              <a:sym typeface="Calibri"/>
            </a:endParaRPr>
          </a:p>
        </p:txBody>
      </p:sp>
      <p:sp>
        <p:nvSpPr>
          <p:cNvPr id="344" name="Google Shape;344;p6"/>
          <p:cNvSpPr/>
          <p:nvPr/>
        </p:nvSpPr>
        <p:spPr>
          <a:xfrm>
            <a:off x="566928" y="30449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Q3: Write R code to model email click-through probability.</a:t>
            </a:r>
            <a:endParaRPr b="0" i="0" sz="1100" u="none" cap="none" strike="noStrike">
              <a:solidFill>
                <a:schemeClr val="dk1"/>
              </a:solidFill>
              <a:latin typeface="Calibri"/>
              <a:ea typeface="Calibri"/>
              <a:cs typeface="Calibri"/>
              <a:sym typeface="Calibri"/>
            </a:endParaRPr>
          </a:p>
        </p:txBody>
      </p:sp>
      <p:sp>
        <p:nvSpPr>
          <p:cNvPr id="345" name="Google Shape;345;p6"/>
          <p:cNvSpPr/>
          <p:nvPr/>
        </p:nvSpPr>
        <p:spPr>
          <a:xfrm>
            <a:off x="566928" y="35021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1C1C"/>
              </a:buClr>
              <a:buSzPts val="1100"/>
              <a:buFont typeface="Calibri"/>
              <a:buNone/>
            </a:pPr>
            <a:r>
              <a:rPr b="1" i="0" lang="en-US" sz="1100" u="none" cap="none" strike="noStrike">
                <a:solidFill>
                  <a:srgbClr val="B91C1C"/>
                </a:solidFill>
                <a:latin typeface="Calibri"/>
                <a:ea typeface="Calibri"/>
                <a:cs typeface="Calibri"/>
                <a:sym typeface="Calibri"/>
              </a:rPr>
              <a:t>⚠  Sources: none cited</a:t>
            </a:r>
            <a:endParaRPr b="0" i="0" sz="1100" u="none" cap="none" strike="noStrike">
              <a:solidFill>
                <a:schemeClr val="dk1"/>
              </a:solidFill>
              <a:latin typeface="Calibri"/>
              <a:ea typeface="Calibri"/>
              <a:cs typeface="Calibri"/>
              <a:sym typeface="Calibri"/>
            </a:endParaRPr>
          </a:p>
        </p:txBody>
      </p:sp>
      <p:sp>
        <p:nvSpPr>
          <p:cNvPr id="346" name="Google Shape;346;p6"/>
          <p:cNvSpPr/>
          <p:nvPr/>
        </p:nvSpPr>
        <p:spPr>
          <a:xfrm>
            <a:off x="566928" y="39593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91C1C"/>
              </a:buClr>
              <a:buSzPts val="1100"/>
              <a:buFont typeface="Calibri"/>
              <a:buNone/>
            </a:pPr>
            <a:r>
              <a:rPr b="1" i="0" lang="en-US" sz="1100" u="none" cap="none" strike="noStrike">
                <a:solidFill>
                  <a:srgbClr val="B91C1C"/>
                </a:solidFill>
                <a:latin typeface="Calibri"/>
                <a:ea typeface="Calibri"/>
                <a:cs typeface="Calibri"/>
                <a:sym typeface="Calibri"/>
              </a:rPr>
              <a:t>⚠  Topics: NOT in course syllabus</a:t>
            </a:r>
            <a:endParaRPr b="0" i="0" sz="1100" u="none" cap="none" strike="noStrike">
              <a:solidFill>
                <a:schemeClr val="dk1"/>
              </a:solidFill>
              <a:latin typeface="Calibri"/>
              <a:ea typeface="Calibri"/>
              <a:cs typeface="Calibri"/>
              <a:sym typeface="Calibri"/>
            </a:endParaRPr>
          </a:p>
        </p:txBody>
      </p:sp>
      <p:sp>
        <p:nvSpPr>
          <p:cNvPr id="347" name="Google Shape;347;p6"/>
          <p:cNvSpPr/>
          <p:nvPr/>
        </p:nvSpPr>
        <p:spPr>
          <a:xfrm>
            <a:off x="4709160" y="1664208"/>
            <a:ext cx="4023360" cy="3017520"/>
          </a:xfrm>
          <a:prstGeom prst="rect">
            <a:avLst/>
          </a:prstGeom>
          <a:solidFill>
            <a:srgbClr val="FFFFFF"/>
          </a:solidFill>
          <a:ln>
            <a:noFill/>
          </a:ln>
          <a:effectLst>
            <a:outerShdw blurRad="635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6"/>
          <p:cNvSpPr/>
          <p:nvPr/>
        </p:nvSpPr>
        <p:spPr>
          <a:xfrm>
            <a:off x="4370832" y="2880360"/>
            <a:ext cx="402336" cy="402336"/>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
          <p:cNvSpPr/>
          <p:nvPr/>
        </p:nvSpPr>
        <p:spPr>
          <a:xfrm>
            <a:off x="4709160" y="1664208"/>
            <a:ext cx="4023360" cy="38404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6"/>
          <p:cNvSpPr/>
          <p:nvPr/>
        </p:nvSpPr>
        <p:spPr>
          <a:xfrm>
            <a:off x="4846320" y="1664208"/>
            <a:ext cx="37490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Trebuchet MS"/>
              <a:buNone/>
            </a:pPr>
            <a:r>
              <a:rPr b="1" i="0" lang="en-US" sz="1300" u="none" cap="none" strike="noStrike">
                <a:solidFill>
                  <a:srgbClr val="FFFFFF"/>
                </a:solidFill>
                <a:latin typeface="Trebuchet MS"/>
                <a:ea typeface="Trebuchet MS"/>
                <a:cs typeface="Trebuchet MS"/>
                <a:sym typeface="Trebuchet MS"/>
              </a:rPr>
              <a:t>✓   With Reranking + Metadata</a:t>
            </a:r>
            <a:endParaRPr b="0" i="0" sz="1300" u="none" cap="none" strike="noStrike">
              <a:solidFill>
                <a:schemeClr val="dk1"/>
              </a:solidFill>
              <a:latin typeface="Calibri"/>
              <a:ea typeface="Calibri"/>
              <a:cs typeface="Calibri"/>
              <a:sym typeface="Calibri"/>
            </a:endParaRPr>
          </a:p>
        </p:txBody>
      </p:sp>
      <p:sp>
        <p:nvSpPr>
          <p:cNvPr id="351" name="Google Shape;351;p6"/>
          <p:cNvSpPr/>
          <p:nvPr/>
        </p:nvSpPr>
        <p:spPr>
          <a:xfrm>
            <a:off x="4864608" y="21305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Q1: Explain k-means and how to choose k using the elbow method.</a:t>
            </a:r>
            <a:endParaRPr b="0" i="0" sz="1100" u="none" cap="none" strike="noStrike">
              <a:solidFill>
                <a:schemeClr val="dk1"/>
              </a:solidFill>
              <a:latin typeface="Calibri"/>
              <a:ea typeface="Calibri"/>
              <a:cs typeface="Calibri"/>
              <a:sym typeface="Calibri"/>
            </a:endParaRPr>
          </a:p>
        </p:txBody>
      </p:sp>
      <p:sp>
        <p:nvSpPr>
          <p:cNvPr id="352" name="Google Shape;352;p6"/>
          <p:cNvSpPr/>
          <p:nvPr/>
        </p:nvSpPr>
        <p:spPr>
          <a:xfrm>
            <a:off x="4864608" y="25877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Q2: How does PCA reduce dimensionality? Show in R.</a:t>
            </a:r>
            <a:endParaRPr b="0" i="0" sz="1100" u="none" cap="none" strike="noStrike">
              <a:solidFill>
                <a:schemeClr val="dk1"/>
              </a:solidFill>
              <a:latin typeface="Calibri"/>
              <a:ea typeface="Calibri"/>
              <a:cs typeface="Calibri"/>
              <a:sym typeface="Calibri"/>
            </a:endParaRPr>
          </a:p>
        </p:txBody>
      </p:sp>
      <p:sp>
        <p:nvSpPr>
          <p:cNvPr id="353" name="Google Shape;353;p6"/>
          <p:cNvSpPr/>
          <p:nvPr/>
        </p:nvSpPr>
        <p:spPr>
          <a:xfrm>
            <a:off x="4864608" y="30449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Q3: Implement hierarchical clustering on the course dataset.</a:t>
            </a:r>
            <a:endParaRPr b="0" i="0" sz="1100" u="none" cap="none" strike="noStrike">
              <a:solidFill>
                <a:schemeClr val="dk1"/>
              </a:solidFill>
              <a:latin typeface="Calibri"/>
              <a:ea typeface="Calibri"/>
              <a:cs typeface="Calibri"/>
              <a:sym typeface="Calibri"/>
            </a:endParaRPr>
          </a:p>
        </p:txBody>
      </p:sp>
      <p:sp>
        <p:nvSpPr>
          <p:cNvPr id="354" name="Google Shape;354;p6"/>
          <p:cNvSpPr/>
          <p:nvPr/>
        </p:nvSpPr>
        <p:spPr>
          <a:xfrm>
            <a:off x="4864608" y="35021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  Sources: lecture_03.pdf, R_demo.R, pca_notes.pdf</a:t>
            </a:r>
            <a:endParaRPr b="0" i="0" sz="1100" u="none" cap="none" strike="noStrike">
              <a:solidFill>
                <a:schemeClr val="dk1"/>
              </a:solidFill>
              <a:latin typeface="Calibri"/>
              <a:ea typeface="Calibri"/>
              <a:cs typeface="Calibri"/>
              <a:sym typeface="Calibri"/>
            </a:endParaRPr>
          </a:p>
        </p:txBody>
      </p:sp>
      <p:sp>
        <p:nvSpPr>
          <p:cNvPr id="355" name="Google Shape;355;p6"/>
          <p:cNvSpPr/>
          <p:nvPr/>
        </p:nvSpPr>
        <p:spPr>
          <a:xfrm>
            <a:off x="4864608" y="3959352"/>
            <a:ext cx="37490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0B981"/>
              </a:buClr>
              <a:buSzPts val="1100"/>
              <a:buFont typeface="Calibri"/>
              <a:buNone/>
            </a:pPr>
            <a:r>
              <a:rPr b="1" i="0" lang="en-US" sz="1100" u="none" cap="none" strike="noStrike">
                <a:solidFill>
                  <a:srgbClr val="10B981"/>
                </a:solidFill>
                <a:latin typeface="Calibri"/>
                <a:ea typeface="Calibri"/>
                <a:cs typeface="Calibri"/>
                <a:sym typeface="Calibri"/>
              </a:rPr>
              <a:t>✓  All topics from Unsupervised Learning syllabus</a:t>
            </a:r>
            <a:endParaRPr b="0" i="0" sz="1100" u="none" cap="none" strike="noStrike">
              <a:solidFill>
                <a:schemeClr val="dk1"/>
              </a:solidFill>
              <a:latin typeface="Calibri"/>
              <a:ea typeface="Calibri"/>
              <a:cs typeface="Calibri"/>
              <a:sym typeface="Calibri"/>
            </a:endParaRPr>
          </a:p>
        </p:txBody>
      </p:sp>
      <p:sp>
        <p:nvSpPr>
          <p:cNvPr id="356" name="Google Shape;356;p6"/>
          <p:cNvSpPr/>
          <p:nvPr/>
        </p:nvSpPr>
        <p:spPr>
          <a:xfrm>
            <a:off x="0" y="5001768"/>
            <a:ext cx="9144000" cy="141732"/>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
          <p:cNvSpPr/>
          <p:nvPr/>
        </p:nvSpPr>
        <p:spPr>
          <a:xfrm>
            <a:off x="365760" y="5001768"/>
            <a:ext cx="6400800" cy="1417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358" name="Google Shape;358;p6"/>
          <p:cNvSpPr/>
          <p:nvPr/>
        </p:nvSpPr>
        <p:spPr>
          <a:xfrm>
            <a:off x="8229600" y="5001768"/>
            <a:ext cx="640080" cy="14173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ADDDA"/>
              </a:buClr>
              <a:buSzPts val="800"/>
              <a:buFont typeface="Calibri"/>
              <a:buNone/>
            </a:pPr>
            <a:r>
              <a:rPr b="0" i="0" lang="en-US" sz="800" u="none" cap="none" strike="noStrike">
                <a:solidFill>
                  <a:srgbClr val="AADDDA"/>
                </a:solidFill>
                <a:latin typeface="Calibri"/>
                <a:ea typeface="Calibri"/>
                <a:cs typeface="Calibri"/>
                <a:sym typeface="Calibri"/>
              </a:rPr>
              <a:t>6 / 7</a:t>
            </a:r>
            <a:endParaRPr b="0" i="0" sz="800" u="none" cap="none" strike="noStrike">
              <a:solidFill>
                <a:schemeClr val="dk1"/>
              </a:solidFill>
              <a:latin typeface="Calibri"/>
              <a:ea typeface="Calibri"/>
              <a:cs typeface="Calibri"/>
              <a:sym typeface="Calibri"/>
            </a:endParaRPr>
          </a:p>
        </p:txBody>
      </p:sp>
      <p:sp>
        <p:nvSpPr>
          <p:cNvPr id="359" name="Google Shape;359;p6"/>
          <p:cNvSpPr/>
          <p:nvPr/>
        </p:nvSpPr>
        <p:spPr>
          <a:xfrm>
            <a:off x="4370832" y="288036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sp>
        <p:nvSpPr>
          <p:cNvPr id="365" name="Google Shape;365;p7"/>
          <p:cNvSpPr/>
          <p:nvPr/>
        </p:nvSpPr>
        <p:spPr>
          <a:xfrm>
            <a:off x="5948175" y="-54900"/>
            <a:ext cx="3200400" cy="5143500"/>
          </a:xfrm>
          <a:prstGeom prst="rect">
            <a:avLst/>
          </a:prstGeom>
          <a:solidFill>
            <a:srgbClr val="0B5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7"/>
          <p:cNvSpPr/>
          <p:nvPr/>
        </p:nvSpPr>
        <p:spPr>
          <a:xfrm>
            <a:off x="5303520" y="-594360"/>
            <a:ext cx="2743200" cy="2743200"/>
          </a:xfrm>
          <a:prstGeom prst="ellipse">
            <a:avLst/>
          </a:prstGeom>
          <a:solidFill>
            <a:srgbClr val="0D7A8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7"/>
          <p:cNvSpPr/>
          <p:nvPr/>
        </p:nvSpPr>
        <p:spPr>
          <a:xfrm>
            <a:off x="6596305" y="3163825"/>
            <a:ext cx="2286000" cy="2286000"/>
          </a:xfrm>
          <a:prstGeom prst="ellipse">
            <a:avLst/>
          </a:prstGeom>
          <a:solidFill>
            <a:srgbClr val="0A2A35"/>
          </a:solidFill>
          <a:ln cap="flat" cmpd="sng" w="12700">
            <a:solidFill>
              <a:srgbClr val="0A2A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7"/>
          <p:cNvSpPr/>
          <p:nvPr/>
        </p:nvSpPr>
        <p:spPr>
          <a:xfrm>
            <a:off x="7822340" y="1616795"/>
            <a:ext cx="164700" cy="16470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7"/>
          <p:cNvSpPr/>
          <p:nvPr/>
        </p:nvSpPr>
        <p:spPr>
          <a:xfrm>
            <a:off x="8229600" y="1645920"/>
            <a:ext cx="109728" cy="109728"/>
          </a:xfrm>
          <a:prstGeom prst="ellipse">
            <a:avLst/>
          </a:prstGeom>
          <a:solidFill>
            <a:srgbClr val="10B981">
              <a:alpha val="6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7"/>
          <p:cNvSpPr/>
          <p:nvPr/>
        </p:nvSpPr>
        <p:spPr>
          <a:xfrm>
            <a:off x="6126480" y="457200"/>
            <a:ext cx="256032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What's</a:t>
            </a:r>
            <a:endParaRPr b="0" i="0" sz="3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Next?</a:t>
            </a:r>
            <a:endParaRPr b="0" i="0" sz="3000" u="none" cap="none" strike="noStrike">
              <a:solidFill>
                <a:schemeClr val="dk1"/>
              </a:solidFill>
              <a:latin typeface="Calibri"/>
              <a:ea typeface="Calibri"/>
              <a:cs typeface="Calibri"/>
              <a:sym typeface="Calibri"/>
            </a:endParaRPr>
          </a:p>
        </p:txBody>
      </p:sp>
      <p:sp>
        <p:nvSpPr>
          <p:cNvPr id="371" name="Google Shape;371;p7"/>
          <p:cNvSpPr/>
          <p:nvPr/>
        </p:nvSpPr>
        <p:spPr>
          <a:xfrm>
            <a:off x="6126480" y="1572768"/>
            <a:ext cx="1280160" cy="36576"/>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7"/>
          <p:cNvSpPr/>
          <p:nvPr/>
        </p:nvSpPr>
        <p:spPr>
          <a:xfrm>
            <a:off x="6126530" y="2393457"/>
            <a:ext cx="164700" cy="16470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7"/>
          <p:cNvSpPr/>
          <p:nvPr/>
        </p:nvSpPr>
        <p:spPr>
          <a:xfrm>
            <a:off x="6382574" y="2370581"/>
            <a:ext cx="2331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Allowing code question generation</a:t>
            </a:r>
            <a:endParaRPr b="0" i="0" sz="1100" u="none" cap="none" strike="noStrike">
              <a:solidFill>
                <a:schemeClr val="dk1"/>
              </a:solidFill>
              <a:latin typeface="Calibri"/>
              <a:ea typeface="Calibri"/>
              <a:cs typeface="Calibri"/>
              <a:sym typeface="Calibri"/>
            </a:endParaRPr>
          </a:p>
        </p:txBody>
      </p:sp>
      <p:sp>
        <p:nvSpPr>
          <p:cNvPr id="374" name="Google Shape;374;p7"/>
          <p:cNvSpPr/>
          <p:nvPr/>
        </p:nvSpPr>
        <p:spPr>
          <a:xfrm>
            <a:off x="6126480" y="2907792"/>
            <a:ext cx="164592" cy="164592"/>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7"/>
          <p:cNvSpPr/>
          <p:nvPr/>
        </p:nvSpPr>
        <p:spPr>
          <a:xfrm>
            <a:off x="6382512" y="2871216"/>
            <a:ext cx="233172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Include real course quiz questions as a framework for new questions</a:t>
            </a:r>
            <a:endParaRPr b="0" i="0" sz="1100" u="none" cap="none" strike="noStrike">
              <a:solidFill>
                <a:schemeClr val="dk1"/>
              </a:solidFill>
              <a:latin typeface="Calibri"/>
              <a:ea typeface="Calibri"/>
              <a:cs typeface="Calibri"/>
              <a:sym typeface="Calibri"/>
            </a:endParaRPr>
          </a:p>
        </p:txBody>
      </p:sp>
      <p:sp>
        <p:nvSpPr>
          <p:cNvPr id="376" name="Google Shape;376;p7"/>
          <p:cNvSpPr/>
          <p:nvPr/>
        </p:nvSpPr>
        <p:spPr>
          <a:xfrm>
            <a:off x="411480" y="201168"/>
            <a:ext cx="1371600" cy="246888"/>
          </a:xfrm>
          <a:prstGeom prst="roundRect">
            <a:avLst>
              <a:gd fmla="val 37037" name="adj"/>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7"/>
          <p:cNvSpPr/>
          <p:nvPr/>
        </p:nvSpPr>
        <p:spPr>
          <a:xfrm>
            <a:off x="411480" y="201168"/>
            <a:ext cx="1371600"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0</a:t>
            </a:r>
            <a:r>
              <a:rPr b="1" lang="en-US" sz="800">
                <a:solidFill>
                  <a:srgbClr val="FFFFFF"/>
                </a:solidFill>
                <a:latin typeface="Calibri"/>
                <a:ea typeface="Calibri"/>
                <a:cs typeface="Calibri"/>
                <a:sym typeface="Calibri"/>
              </a:rPr>
              <a:t>5</a:t>
            </a:r>
            <a:r>
              <a:rPr b="1" i="0" lang="en-US" sz="800" u="none" cap="none" strike="noStrike">
                <a:solidFill>
                  <a:srgbClr val="FFFFFF"/>
                </a:solidFill>
                <a:latin typeface="Calibri"/>
                <a:ea typeface="Calibri"/>
                <a:cs typeface="Calibri"/>
                <a:sym typeface="Calibri"/>
              </a:rPr>
              <a:t>  CONCLUSION</a:t>
            </a:r>
            <a:endParaRPr b="0" i="0" sz="800" u="none" cap="none" strike="noStrike">
              <a:solidFill>
                <a:schemeClr val="dk1"/>
              </a:solidFill>
              <a:latin typeface="Calibri"/>
              <a:ea typeface="Calibri"/>
              <a:cs typeface="Calibri"/>
              <a:sym typeface="Calibri"/>
            </a:endParaRPr>
          </a:p>
        </p:txBody>
      </p:sp>
      <p:sp>
        <p:nvSpPr>
          <p:cNvPr id="378" name="Google Shape;378;p7"/>
          <p:cNvSpPr/>
          <p:nvPr/>
        </p:nvSpPr>
        <p:spPr>
          <a:xfrm>
            <a:off x="411480" y="548640"/>
            <a:ext cx="5212080" cy="10972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3200"/>
              <a:buFont typeface="Trebuchet MS"/>
              <a:buNone/>
            </a:pPr>
            <a:r>
              <a:rPr b="1" i="0" lang="en-US" sz="3200" u="none" cap="none" strike="noStrike">
                <a:solidFill>
                  <a:srgbClr val="1E3A5F"/>
                </a:solidFill>
                <a:latin typeface="Trebuchet MS"/>
                <a:ea typeface="Trebuchet MS"/>
                <a:cs typeface="Trebuchet MS"/>
                <a:sym typeface="Trebuchet MS"/>
              </a:rPr>
              <a:t>What We Built.</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3A5F"/>
              </a:buClr>
              <a:buSzPts val="3200"/>
              <a:buFont typeface="Trebuchet MS"/>
              <a:buNone/>
            </a:pPr>
            <a:r>
              <a:rPr b="1" i="0" lang="en-US" sz="3200" u="none" cap="none" strike="noStrike">
                <a:solidFill>
                  <a:srgbClr val="1E3A5F"/>
                </a:solidFill>
                <a:latin typeface="Trebuchet MS"/>
                <a:ea typeface="Trebuchet MS"/>
                <a:cs typeface="Trebuchet MS"/>
                <a:sym typeface="Trebuchet MS"/>
              </a:rPr>
              <a:t>What It Proves.</a:t>
            </a:r>
            <a:endParaRPr b="0" i="0" sz="3200" u="none" cap="none" strike="noStrike">
              <a:solidFill>
                <a:schemeClr val="dk1"/>
              </a:solidFill>
              <a:latin typeface="Calibri"/>
              <a:ea typeface="Calibri"/>
              <a:cs typeface="Calibri"/>
              <a:sym typeface="Calibri"/>
            </a:endParaRPr>
          </a:p>
        </p:txBody>
      </p:sp>
      <p:sp>
        <p:nvSpPr>
          <p:cNvPr id="379" name="Google Shape;379;p7"/>
          <p:cNvSpPr/>
          <p:nvPr/>
        </p:nvSpPr>
        <p:spPr>
          <a:xfrm>
            <a:off x="411480" y="1783080"/>
            <a:ext cx="5257800" cy="658368"/>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7"/>
          <p:cNvSpPr/>
          <p:nvPr/>
        </p:nvSpPr>
        <p:spPr>
          <a:xfrm>
            <a:off x="411480" y="1783080"/>
            <a:ext cx="64008" cy="65836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594360" y="1837944"/>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300"/>
              <a:buFont typeface="Trebuchet MS"/>
              <a:buNone/>
            </a:pPr>
            <a:r>
              <a:rPr b="1" i="0" lang="en-US" sz="1300" u="none" cap="none" strike="noStrike">
                <a:solidFill>
                  <a:srgbClr val="1E3A5F"/>
                </a:solidFill>
                <a:latin typeface="Trebuchet MS"/>
                <a:ea typeface="Trebuchet MS"/>
                <a:cs typeface="Trebuchet MS"/>
                <a:sym typeface="Trebuchet MS"/>
              </a:rPr>
              <a:t>🔗  RAG grounds the model</a:t>
            </a:r>
            <a:endParaRPr b="0" i="0" sz="1300" u="none" cap="none" strike="noStrike">
              <a:solidFill>
                <a:schemeClr val="dk1"/>
              </a:solidFill>
              <a:latin typeface="Calibri"/>
              <a:ea typeface="Calibri"/>
              <a:cs typeface="Calibri"/>
              <a:sym typeface="Calibri"/>
            </a:endParaRPr>
          </a:p>
        </p:txBody>
      </p:sp>
      <p:sp>
        <p:nvSpPr>
          <p:cNvPr id="382" name="Google Shape;382;p7"/>
          <p:cNvSpPr/>
          <p:nvPr/>
        </p:nvSpPr>
        <p:spPr>
          <a:xfrm>
            <a:off x="594360" y="2130552"/>
            <a:ext cx="4937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Every answer is anchored in actual lecture data — not the internet.</a:t>
            </a:r>
            <a:endParaRPr b="0" i="0" sz="1100" u="none" cap="none" strike="noStrike">
              <a:solidFill>
                <a:schemeClr val="dk1"/>
              </a:solidFill>
              <a:latin typeface="Calibri"/>
              <a:ea typeface="Calibri"/>
              <a:cs typeface="Calibri"/>
              <a:sym typeface="Calibri"/>
            </a:endParaRPr>
          </a:p>
        </p:txBody>
      </p:sp>
      <p:sp>
        <p:nvSpPr>
          <p:cNvPr id="383" name="Google Shape;383;p7"/>
          <p:cNvSpPr/>
          <p:nvPr/>
        </p:nvSpPr>
        <p:spPr>
          <a:xfrm>
            <a:off x="411480" y="2532888"/>
            <a:ext cx="5257800" cy="658368"/>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7"/>
          <p:cNvSpPr/>
          <p:nvPr/>
        </p:nvSpPr>
        <p:spPr>
          <a:xfrm>
            <a:off x="411480" y="2532888"/>
            <a:ext cx="64008" cy="65836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7"/>
          <p:cNvSpPr/>
          <p:nvPr/>
        </p:nvSpPr>
        <p:spPr>
          <a:xfrm>
            <a:off x="594360" y="2587752"/>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300"/>
              <a:buFont typeface="Trebuchet MS"/>
              <a:buNone/>
            </a:pPr>
            <a:r>
              <a:rPr b="1" i="0" lang="en-US" sz="1300" u="none" cap="none" strike="noStrike">
                <a:solidFill>
                  <a:srgbClr val="1E3A5F"/>
                </a:solidFill>
                <a:latin typeface="Trebuchet MS"/>
                <a:ea typeface="Trebuchet MS"/>
                <a:cs typeface="Trebuchet MS"/>
                <a:sym typeface="Trebuchet MS"/>
              </a:rPr>
              <a:t>🎯  Metadata enables lecture-level search</a:t>
            </a:r>
            <a:endParaRPr b="0" i="0" sz="1300" u="none" cap="none" strike="noStrike">
              <a:solidFill>
                <a:schemeClr val="dk1"/>
              </a:solidFill>
              <a:latin typeface="Calibri"/>
              <a:ea typeface="Calibri"/>
              <a:cs typeface="Calibri"/>
              <a:sym typeface="Calibri"/>
            </a:endParaRPr>
          </a:p>
        </p:txBody>
      </p:sp>
      <p:sp>
        <p:nvSpPr>
          <p:cNvPr id="386" name="Google Shape;386;p7"/>
          <p:cNvSpPr/>
          <p:nvPr/>
        </p:nvSpPr>
        <p:spPr>
          <a:xfrm>
            <a:off x="594360" y="2880360"/>
            <a:ext cx="4937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Ask about "Lecture 3" and get all Lecture 3 content, even unprompted.</a:t>
            </a:r>
            <a:endParaRPr b="0" i="0" sz="1100" u="none" cap="none" strike="noStrike">
              <a:solidFill>
                <a:schemeClr val="dk1"/>
              </a:solidFill>
              <a:latin typeface="Calibri"/>
              <a:ea typeface="Calibri"/>
              <a:cs typeface="Calibri"/>
              <a:sym typeface="Calibri"/>
            </a:endParaRPr>
          </a:p>
        </p:txBody>
      </p:sp>
      <p:sp>
        <p:nvSpPr>
          <p:cNvPr id="387" name="Google Shape;387;p7"/>
          <p:cNvSpPr/>
          <p:nvPr/>
        </p:nvSpPr>
        <p:spPr>
          <a:xfrm>
            <a:off x="411480" y="3282696"/>
            <a:ext cx="5257800" cy="658368"/>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7"/>
          <p:cNvSpPr/>
          <p:nvPr/>
        </p:nvSpPr>
        <p:spPr>
          <a:xfrm>
            <a:off x="411480" y="3282696"/>
            <a:ext cx="64008" cy="65836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594360" y="3337560"/>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300"/>
              <a:buFont typeface="Trebuchet MS"/>
              <a:buNone/>
            </a:pPr>
            <a:r>
              <a:rPr b="1" i="0" lang="en-US" sz="1300" u="none" cap="none" strike="noStrike">
                <a:solidFill>
                  <a:srgbClr val="1E3A5F"/>
                </a:solidFill>
                <a:latin typeface="Trebuchet MS"/>
                <a:ea typeface="Trebuchet MS"/>
                <a:cs typeface="Trebuchet MS"/>
                <a:sym typeface="Trebuchet MS"/>
              </a:rPr>
              <a:t>🔢  Reranking improves precision</a:t>
            </a:r>
            <a:endParaRPr b="0" i="0" sz="1300" u="none" cap="none" strike="noStrike">
              <a:solidFill>
                <a:schemeClr val="dk1"/>
              </a:solidFill>
              <a:latin typeface="Calibri"/>
              <a:ea typeface="Calibri"/>
              <a:cs typeface="Calibri"/>
              <a:sym typeface="Calibri"/>
            </a:endParaRPr>
          </a:p>
        </p:txBody>
      </p:sp>
      <p:sp>
        <p:nvSpPr>
          <p:cNvPr id="390" name="Google Shape;390;p7"/>
          <p:cNvSpPr/>
          <p:nvPr/>
        </p:nvSpPr>
        <p:spPr>
          <a:xfrm>
            <a:off x="594360" y="3630168"/>
            <a:ext cx="4937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Cross-encoder cuts 10 candidates to 4 — quality over quantity.</a:t>
            </a:r>
            <a:endParaRPr b="0" i="0" sz="1100" u="none" cap="none" strike="noStrike">
              <a:solidFill>
                <a:schemeClr val="dk1"/>
              </a:solidFill>
              <a:latin typeface="Calibri"/>
              <a:ea typeface="Calibri"/>
              <a:cs typeface="Calibri"/>
              <a:sym typeface="Calibri"/>
            </a:endParaRPr>
          </a:p>
        </p:txBody>
      </p:sp>
      <p:sp>
        <p:nvSpPr>
          <p:cNvPr id="391" name="Google Shape;391;p7"/>
          <p:cNvSpPr/>
          <p:nvPr/>
        </p:nvSpPr>
        <p:spPr>
          <a:xfrm>
            <a:off x="411480" y="4032504"/>
            <a:ext cx="5257800" cy="658368"/>
          </a:xfrm>
          <a:prstGeom prst="rect">
            <a:avLst/>
          </a:prstGeom>
          <a:solidFill>
            <a:srgbClr val="FFFFFF"/>
          </a:solidFill>
          <a:ln>
            <a:noFill/>
          </a:ln>
          <a:effectLst>
            <a:outerShdw blurRad="76200" rotWithShape="0" algn="bl" dir="8100000" dist="25400">
              <a:srgbClr val="000000">
                <a:alpha val="705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7"/>
          <p:cNvSpPr/>
          <p:nvPr/>
        </p:nvSpPr>
        <p:spPr>
          <a:xfrm>
            <a:off x="411480" y="4032504"/>
            <a:ext cx="64008" cy="658368"/>
          </a:xfrm>
          <a:prstGeom prst="rect">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7"/>
          <p:cNvSpPr/>
          <p:nvPr/>
        </p:nvSpPr>
        <p:spPr>
          <a:xfrm>
            <a:off x="594360" y="4087368"/>
            <a:ext cx="493776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3A5F"/>
              </a:buClr>
              <a:buSzPts val="1300"/>
              <a:buFont typeface="Trebuchet MS"/>
              <a:buNone/>
            </a:pPr>
            <a:r>
              <a:rPr b="1" i="0" lang="en-US" sz="1300" u="none" cap="none" strike="noStrike">
                <a:solidFill>
                  <a:srgbClr val="1E3A5F"/>
                </a:solidFill>
                <a:latin typeface="Trebuchet MS"/>
                <a:ea typeface="Trebuchet MS"/>
                <a:cs typeface="Trebuchet MS"/>
                <a:sym typeface="Trebuchet MS"/>
              </a:rPr>
              <a:t>🌐  Deployed end-to-end</a:t>
            </a:r>
            <a:endParaRPr b="0" i="0" sz="1300" u="none" cap="none" strike="noStrike">
              <a:solidFill>
                <a:schemeClr val="dk1"/>
              </a:solidFill>
              <a:latin typeface="Calibri"/>
              <a:ea typeface="Calibri"/>
              <a:cs typeface="Calibri"/>
              <a:sym typeface="Calibri"/>
            </a:endParaRPr>
          </a:p>
        </p:txBody>
      </p:sp>
      <p:sp>
        <p:nvSpPr>
          <p:cNvPr id="394" name="Google Shape;394;p7"/>
          <p:cNvSpPr/>
          <p:nvPr/>
        </p:nvSpPr>
        <p:spPr>
          <a:xfrm>
            <a:off x="594360" y="4379976"/>
            <a:ext cx="4937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7A7E"/>
              </a:buClr>
              <a:buSzPts val="1100"/>
              <a:buFont typeface="Calibri"/>
              <a:buNone/>
            </a:pPr>
            <a:r>
              <a:rPr b="0" i="0" lang="en-US" sz="1100" u="none" cap="none" strike="noStrike">
                <a:solidFill>
                  <a:srgbClr val="5A7A7E"/>
                </a:solidFill>
                <a:latin typeface="Calibri"/>
                <a:ea typeface="Calibri"/>
                <a:cs typeface="Calibri"/>
                <a:sym typeface="Calibri"/>
              </a:rPr>
              <a:t>Full chatbot pipeline accessible via web interface using Docker + Render.</a:t>
            </a:r>
            <a:endParaRPr b="0" i="0" sz="1100" u="none" cap="none" strike="noStrike">
              <a:solidFill>
                <a:schemeClr val="dk1"/>
              </a:solidFill>
              <a:latin typeface="Calibri"/>
              <a:ea typeface="Calibri"/>
              <a:cs typeface="Calibri"/>
              <a:sym typeface="Calibri"/>
            </a:endParaRPr>
          </a:p>
        </p:txBody>
      </p:sp>
      <p:sp>
        <p:nvSpPr>
          <p:cNvPr id="395" name="Google Shape;395;p7"/>
          <p:cNvSpPr/>
          <p:nvPr/>
        </p:nvSpPr>
        <p:spPr>
          <a:xfrm>
            <a:off x="0" y="5001768"/>
            <a:ext cx="9144000" cy="141732"/>
          </a:xfrm>
          <a:prstGeom prst="rect">
            <a:avLst/>
          </a:prstGeom>
          <a:solidFill>
            <a:srgbClr val="0A2A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7"/>
          <p:cNvSpPr/>
          <p:nvPr/>
        </p:nvSpPr>
        <p:spPr>
          <a:xfrm>
            <a:off x="365760" y="5001768"/>
            <a:ext cx="8412480" cy="1417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A7A7E"/>
              </a:buClr>
              <a:buSzPts val="800"/>
              <a:buFont typeface="Calibri"/>
              <a:buNone/>
            </a:pPr>
            <a:r>
              <a:rPr b="0" i="0" lang="en-US" sz="800" u="none" cap="none" strike="noStrike">
                <a:solidFill>
                  <a:srgbClr val="4A7A7E"/>
                </a:solidFill>
                <a:latin typeface="Calibri"/>
                <a:ea typeface="Calibri"/>
                <a:cs typeface="Calibri"/>
                <a:sym typeface="Calibri"/>
              </a:rPr>
              <a:t>Breton  ·  Clements  ·  Rawat  ·  Rios  //  RAG Test Maker Chatbot</a:t>
            </a:r>
            <a:endParaRPr b="0" i="0" sz="800" u="none" cap="none" strike="noStrike">
              <a:solidFill>
                <a:schemeClr val="dk1"/>
              </a:solidFill>
              <a:latin typeface="Calibri"/>
              <a:ea typeface="Calibri"/>
              <a:cs typeface="Calibri"/>
              <a:sym typeface="Calibri"/>
            </a:endParaRPr>
          </a:p>
        </p:txBody>
      </p:sp>
      <p:sp>
        <p:nvSpPr>
          <p:cNvPr id="397" name="Google Shape;397;p7"/>
          <p:cNvSpPr/>
          <p:nvPr/>
        </p:nvSpPr>
        <p:spPr>
          <a:xfrm>
            <a:off x="6126525" y="1919050"/>
            <a:ext cx="164700" cy="164700"/>
          </a:xfrm>
          <a:prstGeom prst="ellipse">
            <a:avLst/>
          </a:prstGeom>
          <a:solidFill>
            <a:srgbClr val="10B98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6382574" y="1843704"/>
            <a:ext cx="2331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Expand to more courses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2026-03-12T21:27:05Z</dcterms:created>
  <dc:creator>PptxGenJS</dc:creator>
</cp:coreProperties>
</file>